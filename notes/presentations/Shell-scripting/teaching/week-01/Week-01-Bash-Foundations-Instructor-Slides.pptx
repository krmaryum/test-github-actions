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1dd49e3b6c4ca1" /><Relationship Type="http://schemas.openxmlformats.org/officeDocument/2006/relationships/extended-properties" Target="/docProps/app.xml" Id="Rb8c325d407c048f8" /><Relationship Type="http://schemas.openxmlformats.org/officeDocument/2006/relationships/officeDocument" Target="/ppt/presentation.xml" Id="Rb732f496fae64f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0bd9e87b274b3c"/>
  </p:sldMasterIdLst>
  <p:notesMasterIdLst>
    <p:notesMasterId xmlns:r="http://schemas.openxmlformats.org/officeDocument/2006/relationships" r:id="Rbc2d1e7bc0f0455f"/>
  </p:notesMasterIdLst>
  <p:sldIdLst>
    <p:sldId xmlns:r="http://schemas.openxmlformats.org/officeDocument/2006/relationships" id="256" r:id="R3f11ff97cdd74254"/>
    <p:sldId xmlns:r="http://schemas.openxmlformats.org/officeDocument/2006/relationships" id="257" r:id="Recc6de734f7a4d49"/>
    <p:sldId xmlns:r="http://schemas.openxmlformats.org/officeDocument/2006/relationships" id="258" r:id="R0b2d65b26ea245ef"/>
    <p:sldId xmlns:r="http://schemas.openxmlformats.org/officeDocument/2006/relationships" id="259" r:id="Rc20feaf346834ec2"/>
    <p:sldId xmlns:r="http://schemas.openxmlformats.org/officeDocument/2006/relationships" id="260" r:id="Ra1ed3a55613c485e"/>
    <p:sldId xmlns:r="http://schemas.openxmlformats.org/officeDocument/2006/relationships" id="261" r:id="R0f34ff9af4534815"/>
    <p:sldId xmlns:r="http://schemas.openxmlformats.org/officeDocument/2006/relationships" id="262" r:id="R1ada957ae3c74c6e"/>
    <p:sldId xmlns:r="http://schemas.openxmlformats.org/officeDocument/2006/relationships" id="263" r:id="R9da77f87b7bd4b37"/>
    <p:sldId xmlns:r="http://schemas.openxmlformats.org/officeDocument/2006/relationships" id="264" r:id="Rced496ebc5234d67"/>
    <p:sldId xmlns:r="http://schemas.openxmlformats.org/officeDocument/2006/relationships" id="265" r:id="R0dd0729d64f145de"/>
    <p:sldId xmlns:r="http://schemas.openxmlformats.org/officeDocument/2006/relationships" id="266" r:id="R7d6bc2af147346d4"/>
    <p:sldId xmlns:r="http://schemas.openxmlformats.org/officeDocument/2006/relationships" id="267" r:id="R0920751aff8443f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43bec48dea44309" /><Relationship Type="http://schemas.openxmlformats.org/officeDocument/2006/relationships/slideMaster" Target="/ppt/slideMasters/slideMaster1.xml" Id="Raf0bd9e87b274b3c" /><Relationship Type="http://schemas.openxmlformats.org/officeDocument/2006/relationships/notesMaster" Target="/ppt/notesMasters/notesMaster1.xml" Id="Rbc2d1e7bc0f0455f" /><Relationship Type="http://schemas.openxmlformats.org/officeDocument/2006/relationships/presProps" Target="/ppt/presProps.xml" Id="R93f27ca94fe94ba2" /><Relationship Type="http://schemas.openxmlformats.org/officeDocument/2006/relationships/tableStyles" Target="/ppt/tableStyles.xml" Id="R48e2113f9acf42bb" /><Relationship Type="http://schemas.openxmlformats.org/officeDocument/2006/relationships/slide" Target="/ppt/slides/slide1.xml" Id="R3f11ff97cdd74254" /><Relationship Type="http://schemas.openxmlformats.org/officeDocument/2006/relationships/slide" Target="/ppt/slides/slide2.xml" Id="Recc6de734f7a4d49" /><Relationship Type="http://schemas.openxmlformats.org/officeDocument/2006/relationships/slide" Target="/ppt/slides/slide3.xml" Id="R0b2d65b26ea245ef" /><Relationship Type="http://schemas.openxmlformats.org/officeDocument/2006/relationships/slide" Target="/ppt/slides/slide4.xml" Id="Rc20feaf346834ec2" /><Relationship Type="http://schemas.openxmlformats.org/officeDocument/2006/relationships/slide" Target="/ppt/slides/slide5.xml" Id="Ra1ed3a55613c485e" /><Relationship Type="http://schemas.openxmlformats.org/officeDocument/2006/relationships/slide" Target="/ppt/slides/slide6.xml" Id="R0f34ff9af4534815" /><Relationship Type="http://schemas.openxmlformats.org/officeDocument/2006/relationships/slide" Target="/ppt/slides/slide7.xml" Id="R1ada957ae3c74c6e" /><Relationship Type="http://schemas.openxmlformats.org/officeDocument/2006/relationships/slide" Target="/ppt/slides/slide8.xml" Id="R9da77f87b7bd4b37" /><Relationship Type="http://schemas.openxmlformats.org/officeDocument/2006/relationships/slide" Target="/ppt/slides/slide9.xml" Id="Rced496ebc5234d67" /><Relationship Type="http://schemas.openxmlformats.org/officeDocument/2006/relationships/slide" Target="/ppt/slides/slide10.xml" Id="R0dd0729d64f145de" /><Relationship Type="http://schemas.openxmlformats.org/officeDocument/2006/relationships/slide" Target="/ppt/slides/slide11.xml" Id="R7d6bc2af147346d4" /><Relationship Type="http://schemas.openxmlformats.org/officeDocument/2006/relationships/slide" Target="/ppt/slides/slide12.xml" Id="R0920751aff8443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c005808fe444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29f4e1ebab042a8" /><Relationship Type="http://schemas.openxmlformats.org/officeDocument/2006/relationships/notesMaster" Target="/ppt/notesMasters/notesMaster1.xml" Id="Ra037d77fd4e24e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6b3d7a50fc4d42" /><Relationship Type="http://schemas.openxmlformats.org/officeDocument/2006/relationships/notesMaster" Target="/ppt/notesMasters/notesMaster1.xml" Id="Rfb509d5b40734d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de2c0f6396477f" /><Relationship Type="http://schemas.openxmlformats.org/officeDocument/2006/relationships/notesMaster" Target="/ppt/notesMasters/notesMaster1.xml" Id="R7181097bc9e24bf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c37c0ccdac4908" /><Relationship Type="http://schemas.openxmlformats.org/officeDocument/2006/relationships/notesMaster" Target="/ppt/notesMasters/notesMaster1.xml" Id="R98d3cba136b2496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142cb80e744ea7" /><Relationship Type="http://schemas.openxmlformats.org/officeDocument/2006/relationships/notesMaster" Target="/ppt/notesMasters/notesMaster1.xml" Id="Rcd4857b9613846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1571ce70294ec8" /><Relationship Type="http://schemas.openxmlformats.org/officeDocument/2006/relationships/notesMaster" Target="/ppt/notesMasters/notesMaster1.xml" Id="R806596fa5a454f5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1ea99a9aff430e" /><Relationship Type="http://schemas.openxmlformats.org/officeDocument/2006/relationships/notesMaster" Target="/ppt/notesMasters/notesMaster1.xml" Id="R8d1129b37ee647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aea28ca4e3649f6" /><Relationship Type="http://schemas.openxmlformats.org/officeDocument/2006/relationships/notesMaster" Target="/ppt/notesMasters/notesMaster1.xml" Id="R2a9e2cacb3b743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7c0dcccce34a97" /><Relationship Type="http://schemas.openxmlformats.org/officeDocument/2006/relationships/notesMaster" Target="/ppt/notesMasters/notesMaster1.xml" Id="Rcbc3f7e99aa04c9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28bde2e4bab4d67" /><Relationship Type="http://schemas.openxmlformats.org/officeDocument/2006/relationships/notesMaster" Target="/ppt/notesMasters/notesMaster1.xml" Id="R4f184a4c348b470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616fd39661e4c82" /><Relationship Type="http://schemas.openxmlformats.org/officeDocument/2006/relationships/notesMaster" Target="/ppt/notesMasters/notesMaster1.xml" Id="Rb963e4fac61946e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b9ca7b68ea6464f" /><Relationship Type="http://schemas.openxmlformats.org/officeDocument/2006/relationships/notesMaster" Target="/ppt/notesMasters/notesMaster1.xml" Id="R61f63d70b8ce4a7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asking: What happens after you type ls and press Enter?</a:t>
            </a:r>
          </a:p>
          <a:p xmlns:a="http://schemas.openxmlformats.org/drawingml/2006/main">
            <a:r>
              <a:t>Explain that Week 1 is about understanding execution, not memorizing advanced syntax.</a:t>
            </a:r>
          </a:p>
          <a:p xmlns:a="http://schemas.openxmlformats.org/drawingml/2006/main">
            <a:r>
              <a:t>State the milestone: every student will create, execute, and explain a Bash 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outcomes as evidence students will produce, not as an agenda.</a:t>
            </a:r>
          </a:p>
          <a:p xmlns:a="http://schemas.openxmlformats.org/drawingml/2006/main">
            <a:r>
              <a:t>Ask students which outcome feels most familiar and which feels newest.</a:t>
            </a:r>
          </a:p>
          <a:p xmlns:a="http://schemas.openxmlformats.org/drawingml/2006/main">
            <a:r>
              <a:t>Return to this slide at the end of Lesson 2 for self-assessment.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microphone analogy from the instructor guide.</a:t>
            </a:r>
          </a:p>
          <a:p xmlns:a="http://schemas.openxmlformats.org/drawingml/2006/main">
            <a:r>
              <a:t>Ask: Is the terminal Bash? Expected answer: no; the terminal hosts the shell.</a:t>
            </a:r>
          </a:p>
          <a:p xmlns:a="http://schemas.openxmlformats.org/drawingml/2006/main">
            <a:r>
              <a:t>Ask students to restate the flow in their own words.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Trace the four stages with one concrete file named first-script.sh.</a:t>
            </a:r>
          </a:p>
          <a:p xmlns:a="http://schemas.openxmlformats.org/drawingml/2006/main">
            <a:r>
              <a:t>Emphasize that a script does not become automation merely because it has a .sh extension.</a:t>
            </a:r>
          </a:p>
          <a:p xmlns:a="http://schemas.openxmlformats.org/drawingml/2006/main">
            <a:r>
              <a:t>Ask where a permission error would occur in this 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part and ask students to locate it in the code.</a:t>
            </a:r>
          </a:p>
          <a:p xmlns:a="http://schemas.openxmlformats.org/drawingml/2006/main">
            <a:r>
              <a:t>Explain that comments are for people; commands are for the shell.</a:t>
            </a:r>
          </a:p>
          <a:p xmlns:a="http://schemas.openxmlformats.org/drawingml/2006/main">
            <a:r>
              <a:t>Do not teach variables deeply yet. Keep focus on structure and execution.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Demonstrate both methods with the same file.</a:t>
            </a:r>
          </a:p>
          <a:p xmlns:a="http://schemas.openxmlformats.org/drawingml/2006/main">
            <a:r>
              <a:t>Remove execute permission and ask students to predict which method still works.</a:t>
            </a:r>
          </a:p>
          <a:p xmlns:a="http://schemas.openxmlformats.org/drawingml/2006/main">
            <a:r>
              <a:t>Make students explain ./ before continuing.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packaged first-script.sh file.</a:t>
            </a:r>
          </a:p>
          <a:p xmlns:a="http://schemas.openxmlformats.org/drawingml/2006/main">
            <a:r>
              <a:t>Pause before execution and ask students to predict user, hostname, directory, and date output.</a:t>
            </a:r>
          </a:p>
          <a:p xmlns:a="http://schemas.openxmlformats.org/drawingml/2006/main">
            <a:r>
              <a:t>Run with Bash, check status, add execute permission, then run directly.</a:t>
            </a:r>
          </a:p>
          <a:p xmlns:a="http://schemas.openxmlformats.org/drawingml/2006/main">
            <a:r>
              <a:t>Finish by removing execute permission and isolating the resulting error.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pwd, check status, then run ls /missing and check status.</a:t>
            </a:r>
          </a:p>
          <a:p xmlns:a="http://schemas.openxmlformats.org/drawingml/2006/main">
            <a:r>
              <a:t>Ask students to classify each observed result as output, error, or status.</a:t>
            </a:r>
          </a:p>
          <a:p xmlns:a="http://schemas.openxmlformats.org/drawingml/2006/main">
            <a:r>
              <a:t>Emphasize that no visible output does not automatically mean success.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students to predict which right-hand command will run before executing examples.</a:t>
            </a:r>
          </a:p>
          <a:p xmlns:a="http://schemas.openxmlformats.org/drawingml/2006/main">
            <a:r>
              <a:t>Connect 0 with success and nonzero with failure.</a:t>
            </a:r>
          </a:p>
          <a:p xmlns:a="http://schemas.openxmlformats.org/drawingml/2006/main">
            <a:r>
              <a:t>State that Week 3 will introduce if statements for more complex decisions.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packaged environment-snapshot.sh file.</a:t>
            </a:r>
          </a:p>
          <a:p xmlns:a="http://schemas.openxmlformats.org/drawingml/2006/main">
            <a:r>
              <a:t>Ask students to identify static labels, commands, and command substitution.</a:t>
            </a:r>
          </a:p>
          <a:p xmlns:a="http://schemas.openxmlformats.org/drawingml/2006/main">
            <a:r>
              <a:t>Keep variables as a preview; Week 2 teaches them in depth.</a:t>
            </a:r>
          </a:p>
          <a:p xmlns:a="http://schemas.openxmlformats.org/drawingml/2006/main">
            <a:r>
              <a:t>Discuss why read-only reports are good first automation exercises.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packaged Week-01-Student-Labs.md handout.</a:t>
            </a:r>
          </a:p>
          <a:p xmlns:a="http://schemas.openxmlformats.org/drawingml/2006/main">
            <a:r>
              <a:t>During labs, observe and ask isolation questions instead of taking over the keyboard.</a:t>
            </a:r>
          </a:p>
          <a:p xmlns:a="http://schemas.openxmlformats.org/drawingml/2006/main">
            <a:r>
              <a:t>Require both positive and controlled failure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practical checkpoint in Week-01-Assessment-and-Answer-Key.md.</a:t>
            </a:r>
          </a:p>
          <a:p xmlns:a="http://schemas.openxmlformats.org/drawingml/2006/main">
            <a:r>
              <a:t>Award M1 only when the student can execute and explain without step-by-step prompting.</a:t>
            </a:r>
          </a:p>
          <a:p xmlns:a="http://schemas.openxmlformats.org/drawingml/2006/main">
            <a:r>
              <a:t>Close by connecting Week 1 execution fundamentals to Week 2 input and variables.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13364260d24e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b7faa8cc5614259" /><Relationship Type="http://schemas.openxmlformats.org/officeDocument/2006/relationships/slideLayout" Target="/ppt/slideLayouts/slideLayout1.xml" Id="Rb952c936411344a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52c936411344a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c96c835e9f4a36" /><Relationship Type="http://schemas.openxmlformats.org/officeDocument/2006/relationships/notesSlide" Target="/ppt/notesSlides/notesSlide1.xml" Id="R3606f60a4fbf4d1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1707c34da4e56" /><Relationship Type="http://schemas.openxmlformats.org/officeDocument/2006/relationships/notesSlide" Target="/ppt/notesSlides/notesSlide2.xml" Id="Rad2893306b5a48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700e389b334988" /><Relationship Type="http://schemas.openxmlformats.org/officeDocument/2006/relationships/notesSlide" Target="/ppt/notesSlides/notesSlide3.xml" Id="Rd64ccfa9e3924d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9280a4a0b140aa" /><Relationship Type="http://schemas.openxmlformats.org/officeDocument/2006/relationships/notesSlide" Target="/ppt/notesSlides/notesSlide4.xml" Id="R9c33c966335f450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93c35a0f904a45" /><Relationship Type="http://schemas.openxmlformats.org/officeDocument/2006/relationships/notesSlide" Target="/ppt/notesSlides/notesSlide5.xml" Id="R65d1f9cb9ff249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bb51e42f7d4f06" /><Relationship Type="http://schemas.openxmlformats.org/officeDocument/2006/relationships/notesSlide" Target="/ppt/notesSlides/notesSlide6.xml" Id="Reab53d7b234c4e2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3772f9de04959" /><Relationship Type="http://schemas.openxmlformats.org/officeDocument/2006/relationships/notesSlide" Target="/ppt/notesSlides/notesSlide7.xml" Id="R5f2c4170b8914cd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f930a157ab4400" /><Relationship Type="http://schemas.openxmlformats.org/officeDocument/2006/relationships/notesSlide" Target="/ppt/notesSlides/notesSlide8.xml" Id="Rba121bd2c14141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0f1aba143f4d5a" /><Relationship Type="http://schemas.openxmlformats.org/officeDocument/2006/relationships/notesSlide" Target="/ppt/notesSlides/notesSlide9.xml" Id="R23b377c5c4004e2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bd33fc14b14d3b" /><Relationship Type="http://schemas.openxmlformats.org/officeDocument/2006/relationships/notesSlide" Target="/ppt/notesSlides/notesSlide10.xml" Id="R16cfee54d2da418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c5739f4ef646ac" /><Relationship Type="http://schemas.openxmlformats.org/officeDocument/2006/relationships/notesSlide" Target="/ppt/notesSlides/notesSlide11.xml" Id="R17ab0df395df441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9aa3f3f55b4fa4" /><Relationship Type="http://schemas.openxmlformats.org/officeDocument/2006/relationships/notesSlide" Target="/ppt/notesSlides/notesSlide12.xml" Id="R1ff2cb8726c3438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F29C4EF9-3148-4EDC-A53D-CADEEAA2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39B2893C-FB00-423C-A557-A5262FAF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3875"/>
            <a:ext cx="4572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BASH SCRIPTING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8F11F62-AAF8-4B6A-9957-FBF04B74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76375"/>
            <a:ext cx="8382000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Week 1
Bash Foundations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C57B6EA8-D094-430E-A709-F4A3E76A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05250"/>
            <a:ext cx="78105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Write, run, and explain your first scripts</a:t>
            </a:r>
          </a:p>
        </p:txBody>
      </p:sp>
      <p:sp>
        <p:nvSpPr>
          <p:cNvPr id="5" name="cover-rule">
            <a:extLst xmlns:a="http://schemas.openxmlformats.org/drawingml/2006/main">
              <a:ext uri="{FF2B5EF4-FFF2-40B4-BE49-F238E27FC236}">
                <a16:creationId xmlns:a16="http://schemas.microsoft.com/office/drawing/2014/main" id="{66B110D6-30AB-4625-958B-04D3A2A5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95875"/>
            <a:ext cx="3429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6" name="cover-meta">
            <a:extLst xmlns:a="http://schemas.openxmlformats.org/drawingml/2006/main">
              <a:ext uri="{FF2B5EF4-FFF2-40B4-BE49-F238E27FC236}">
                <a16:creationId xmlns:a16="http://schemas.microsoft.com/office/drawing/2014/main" id="{AD1948E2-DEEB-490A-B505-000C7ABE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7239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Two 90-minute lessons  |  Milestone M1: Script Operator</a:t>
            </a:r>
          </a:p>
        </p:txBody>
      </p:sp>
      <p:sp>
        <p:nvSpPr>
          <p:cNvPr id="7" name="cover-instructor">
            <a:extLst xmlns:a="http://schemas.openxmlformats.org/drawingml/2006/main">
              <a:ext uri="{FF2B5EF4-FFF2-40B4-BE49-F238E27FC236}">
                <a16:creationId xmlns:a16="http://schemas.microsoft.com/office/drawing/2014/main" id="{7529F661-7ED4-4516-8D8B-9AEE9205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15050"/>
            <a:ext cx="495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Instructor: Muhammad Khalid Khan</a:t>
            </a:r>
          </a:p>
        </p:txBody>
      </p:sp>
    </p:spTree>
    <p:extLst>
      <p:ext uri="{BB962C8B-B14F-4D97-AF65-F5344CB8AC3E}">
        <p14:creationId xmlns:p14="http://schemas.microsoft.com/office/powerpoint/2010/main" val="11316645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2">
            <a:extLst xmlns:a="http://schemas.openxmlformats.org/drawingml/2006/main">
              <a:ext uri="{FF2B5EF4-FFF2-40B4-BE49-F238E27FC236}">
                <a16:creationId xmlns:a16="http://schemas.microsoft.com/office/drawing/2014/main" id="{EB155FB7-DA7E-4412-8798-ABF492A8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BASH SCRIPTING | WEEK 1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263FC082-5C44-4E1B-816B-18939B4F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By the end of Week 1, you can prove six skills</a:t>
            </a:r>
          </a:p>
        </p:txBody>
      </p:sp>
      <p:sp>
        <p:nvSpPr>
          <p:cNvPr id="3" name="header-rule-2">
            <a:extLst xmlns:a="http://schemas.openxmlformats.org/drawingml/2006/main">
              <a:ext uri="{FF2B5EF4-FFF2-40B4-BE49-F238E27FC236}">
                <a16:creationId xmlns:a16="http://schemas.microsoft.com/office/drawing/2014/main" id="{A31ECC28-15D7-4F07-9D50-57C3ADF8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25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3C9A45C8-F802-42EC-AD55-1DE2207A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38875"/>
            <a:ext cx="495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5" name="footer-2">
            <a:extLst xmlns:a="http://schemas.openxmlformats.org/drawingml/2006/main">
              <a:ext uri="{FF2B5EF4-FFF2-40B4-BE49-F238E27FC236}">
                <a16:creationId xmlns:a16="http://schemas.microsoft.com/office/drawing/2014/main" id="{D38D3D57-282B-47DD-A858-39067741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38875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outcome-number-1">
            <a:extLst xmlns:a="http://schemas.openxmlformats.org/drawingml/2006/main">
              <a:ext uri="{FF2B5EF4-FFF2-40B4-BE49-F238E27FC236}">
                <a16:creationId xmlns:a16="http://schemas.microsoft.com/office/drawing/2014/main" id="{EDA781FF-6709-42AF-B154-FA986A62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47850"/>
            <a:ext cx="552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7" name="outcome-num-text-1">
            <a:extLst xmlns:a="http://schemas.openxmlformats.org/drawingml/2006/main">
              <a:ext uri="{FF2B5EF4-FFF2-40B4-BE49-F238E27FC236}">
                <a16:creationId xmlns:a16="http://schemas.microsoft.com/office/drawing/2014/main" id="{21136BE8-C515-4B6B-8868-0A2F4415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4310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8" name="outcome-text-1">
            <a:extLst xmlns:a="http://schemas.openxmlformats.org/drawingml/2006/main">
              <a:ext uri="{FF2B5EF4-FFF2-40B4-BE49-F238E27FC236}">
                <a16:creationId xmlns:a16="http://schemas.microsoft.com/office/drawing/2014/main" id="{C7FD2EB6-2E43-410F-832A-D6248DE1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95475"/>
            <a:ext cx="9715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Explain terminal, shell, Bash, command, and script</a:t>
            </a:r>
          </a:p>
        </p:txBody>
      </p:sp>
      <p:sp>
        <p:nvSpPr>
          <p:cNvPr id="9" name="outcome-rule-1">
            <a:extLst xmlns:a="http://schemas.openxmlformats.org/drawingml/2006/main">
              <a:ext uri="{FF2B5EF4-FFF2-40B4-BE49-F238E27FC236}">
                <a16:creationId xmlns:a16="http://schemas.microsoft.com/office/drawing/2014/main" id="{88E3E2B5-2DE0-4E8F-A32F-4215672A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431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outcome-number-2">
            <a:extLst xmlns:a="http://schemas.openxmlformats.org/drawingml/2006/main">
              <a:ext uri="{FF2B5EF4-FFF2-40B4-BE49-F238E27FC236}">
                <a16:creationId xmlns:a16="http://schemas.microsoft.com/office/drawing/2014/main" id="{CD01714D-FEA7-4428-8D84-079D86BA9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552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1" name="outcome-num-text-2">
            <a:extLst xmlns:a="http://schemas.openxmlformats.org/drawingml/2006/main">
              <a:ext uri="{FF2B5EF4-FFF2-40B4-BE49-F238E27FC236}">
                <a16:creationId xmlns:a16="http://schemas.microsoft.com/office/drawing/2014/main" id="{8D7FD6D3-C485-49F3-9CCF-509D5BE1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0985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2" name="outcome-text-2">
            <a:extLst xmlns:a="http://schemas.openxmlformats.org/drawingml/2006/main">
              <a:ext uri="{FF2B5EF4-FFF2-40B4-BE49-F238E27FC236}">
                <a16:creationId xmlns:a16="http://schemas.microsoft.com/office/drawing/2014/main" id="{AC627734-9853-418E-ABC0-6AA34CFF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62225"/>
            <a:ext cx="9715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Identify the shebang, comments, commands, and output</a:t>
            </a:r>
          </a:p>
        </p:txBody>
      </p:sp>
      <p:sp>
        <p:nvSpPr>
          <p:cNvPr id="13" name="outcome-rule-2">
            <a:extLst xmlns:a="http://schemas.openxmlformats.org/drawingml/2006/main">
              <a:ext uri="{FF2B5EF4-FFF2-40B4-BE49-F238E27FC236}">
                <a16:creationId xmlns:a16="http://schemas.microsoft.com/office/drawing/2014/main" id="{727A6B94-9BDF-453C-A419-4BA5B417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outcome-number-3">
            <a:extLst xmlns:a="http://schemas.openxmlformats.org/drawingml/2006/main">
              <a:ext uri="{FF2B5EF4-FFF2-40B4-BE49-F238E27FC236}">
                <a16:creationId xmlns:a16="http://schemas.microsoft.com/office/drawing/2014/main" id="{D026C946-011F-4984-90F1-AFD987CB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81350"/>
            <a:ext cx="552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5" name="outcome-num-text-3">
            <a:extLst xmlns:a="http://schemas.openxmlformats.org/drawingml/2006/main">
              <a:ext uri="{FF2B5EF4-FFF2-40B4-BE49-F238E27FC236}">
                <a16:creationId xmlns:a16="http://schemas.microsoft.com/office/drawing/2014/main" id="{CE511409-81CB-462E-91B5-31D8AE48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7660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outcome-text-3">
            <a:extLst xmlns:a="http://schemas.openxmlformats.org/drawingml/2006/main">
              <a:ext uri="{FF2B5EF4-FFF2-40B4-BE49-F238E27FC236}">
                <a16:creationId xmlns:a16="http://schemas.microsoft.com/office/drawing/2014/main" id="{9590294A-3511-4526-A530-B2AE28BE3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28975"/>
            <a:ext cx="9715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Run a script with bash script.sh</a:t>
            </a:r>
          </a:p>
        </p:txBody>
      </p:sp>
      <p:sp>
        <p:nvSpPr>
          <p:cNvPr id="17" name="outcome-rule-3">
            <a:extLst xmlns:a="http://schemas.openxmlformats.org/drawingml/2006/main">
              <a:ext uri="{FF2B5EF4-FFF2-40B4-BE49-F238E27FC236}">
                <a16:creationId xmlns:a16="http://schemas.microsoft.com/office/drawing/2014/main" id="{BDFA86D9-CD1B-4555-B442-A193CE97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8" name="outcome-number-4">
            <a:extLst xmlns:a="http://schemas.openxmlformats.org/drawingml/2006/main">
              <a:ext uri="{FF2B5EF4-FFF2-40B4-BE49-F238E27FC236}">
                <a16:creationId xmlns:a16="http://schemas.microsoft.com/office/drawing/2014/main" id="{DF8186AB-D085-45EE-B87C-09D6E95F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8100"/>
            <a:ext cx="552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9" name="outcome-num-text-4">
            <a:extLst xmlns:a="http://schemas.openxmlformats.org/drawingml/2006/main">
              <a:ext uri="{FF2B5EF4-FFF2-40B4-BE49-F238E27FC236}">
                <a16:creationId xmlns:a16="http://schemas.microsoft.com/office/drawing/2014/main" id="{F63FA980-8719-439B-8E91-BF05B7C53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4335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20" name="outcome-text-4">
            <a:extLst xmlns:a="http://schemas.openxmlformats.org/drawingml/2006/main">
              <a:ext uri="{FF2B5EF4-FFF2-40B4-BE49-F238E27FC236}">
                <a16:creationId xmlns:a16="http://schemas.microsoft.com/office/drawing/2014/main" id="{180B6F4C-5801-43DE-A5E9-4593C3E4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895725"/>
            <a:ext cx="9715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Run a script directly with ./script.sh</a:t>
            </a:r>
          </a:p>
        </p:txBody>
      </p:sp>
      <p:sp>
        <p:nvSpPr>
          <p:cNvPr id="21" name="outcome-rule-4">
            <a:extLst xmlns:a="http://schemas.openxmlformats.org/drawingml/2006/main">
              <a:ext uri="{FF2B5EF4-FFF2-40B4-BE49-F238E27FC236}">
                <a16:creationId xmlns:a16="http://schemas.microsoft.com/office/drawing/2014/main" id="{DB3DA7BD-8DEF-4251-858D-200C26B0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434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outcome-number-5">
            <a:extLst xmlns:a="http://schemas.openxmlformats.org/drawingml/2006/main">
              <a:ext uri="{FF2B5EF4-FFF2-40B4-BE49-F238E27FC236}">
                <a16:creationId xmlns:a16="http://schemas.microsoft.com/office/drawing/2014/main" id="{8E95CFD8-E784-4674-BB26-E0F338B3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14850"/>
            <a:ext cx="552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23" name="outcome-num-text-5">
            <a:extLst xmlns:a="http://schemas.openxmlformats.org/drawingml/2006/main">
              <a:ext uri="{FF2B5EF4-FFF2-40B4-BE49-F238E27FC236}">
                <a16:creationId xmlns:a16="http://schemas.microsoft.com/office/drawing/2014/main" id="{6C040571-E3F0-478D-BAED-AB7DAC47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010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24" name="outcome-text-5">
            <a:extLst xmlns:a="http://schemas.openxmlformats.org/drawingml/2006/main">
              <a:ext uri="{FF2B5EF4-FFF2-40B4-BE49-F238E27FC236}">
                <a16:creationId xmlns:a16="http://schemas.microsoft.com/office/drawing/2014/main" id="{F5BBCB94-6096-44F9-B4E3-7D3F9FCEA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62475"/>
            <a:ext cx="9715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Use exit status to recognize success or failure</a:t>
            </a:r>
          </a:p>
        </p:txBody>
      </p:sp>
      <p:sp>
        <p:nvSpPr>
          <p:cNvPr id="25" name="outcome-rule-5">
            <a:extLst xmlns:a="http://schemas.openxmlformats.org/drawingml/2006/main">
              <a:ext uri="{FF2B5EF4-FFF2-40B4-BE49-F238E27FC236}">
                <a16:creationId xmlns:a16="http://schemas.microsoft.com/office/drawing/2014/main" id="{F32DA851-84E8-40D2-83D0-0BA9EDF1F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6" name="outcome-number-6">
            <a:extLst xmlns:a="http://schemas.openxmlformats.org/drawingml/2006/main">
              <a:ext uri="{FF2B5EF4-FFF2-40B4-BE49-F238E27FC236}">
                <a16:creationId xmlns:a16="http://schemas.microsoft.com/office/drawing/2014/main" id="{DE36D6C3-8886-42D7-A63A-6A02A3E81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81600"/>
            <a:ext cx="5524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7" name="outcome-num-text-6">
            <a:extLst xmlns:a="http://schemas.openxmlformats.org/drawingml/2006/main">
              <a:ext uri="{FF2B5EF4-FFF2-40B4-BE49-F238E27FC236}">
                <a16:creationId xmlns:a16="http://schemas.microsoft.com/office/drawing/2014/main" id="{FAFB0493-535E-475A-9B67-CFD7200A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76850"/>
            <a:ext cx="5524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sp>
        <p:nvSpPr>
          <p:cNvPr id="28" name="outcome-text-6">
            <a:extLst xmlns:a="http://schemas.openxmlformats.org/drawingml/2006/main">
              <a:ext uri="{FF2B5EF4-FFF2-40B4-BE49-F238E27FC236}">
                <a16:creationId xmlns:a16="http://schemas.microsoft.com/office/drawing/2014/main" id="{45BCFF60-D6CC-42F8-AEE5-F628F163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29225"/>
            <a:ext cx="9715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Build and explain an environment snapshot</a:t>
            </a:r>
          </a:p>
        </p:txBody>
      </p:sp>
      <p:sp>
        <p:nvSpPr>
          <p:cNvPr id="29" name="outcome-rule-6">
            <a:extLst xmlns:a="http://schemas.openxmlformats.org/drawingml/2006/main">
              <a:ext uri="{FF2B5EF4-FFF2-40B4-BE49-F238E27FC236}">
                <a16:creationId xmlns:a16="http://schemas.microsoft.com/office/drawing/2014/main" id="{5949294E-1E70-4523-9B80-1D675FB7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6769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692021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3">
            <a:extLst xmlns:a="http://schemas.openxmlformats.org/drawingml/2006/main">
              <a:ext uri="{FF2B5EF4-FFF2-40B4-BE49-F238E27FC236}">
                <a16:creationId xmlns:a16="http://schemas.microsoft.com/office/drawing/2014/main" id="{041FA14F-106F-4177-AD80-816055CE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BASH SCRIPTING | WEEK 1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8F6B2ADC-64E7-44F8-9055-3D93163A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Terminal is the interface; Bash interprets commands</a:t>
            </a:r>
          </a:p>
        </p:txBody>
      </p:sp>
      <p:sp>
        <p:nvSpPr>
          <p:cNvPr id="3" name="header-rule-3">
            <a:extLst xmlns:a="http://schemas.openxmlformats.org/drawingml/2006/main">
              <a:ext uri="{FF2B5EF4-FFF2-40B4-BE49-F238E27FC236}">
                <a16:creationId xmlns:a16="http://schemas.microsoft.com/office/drawing/2014/main" id="{DC986DC3-3A83-4609-B478-53D01156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25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EBDE47DC-70E3-40E0-ADD1-C94518E0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38875"/>
            <a:ext cx="495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5" name="footer-3">
            <a:extLst xmlns:a="http://schemas.openxmlformats.org/drawingml/2006/main">
              <a:ext uri="{FF2B5EF4-FFF2-40B4-BE49-F238E27FC236}">
                <a16:creationId xmlns:a16="http://schemas.microsoft.com/office/drawing/2014/main" id="{F9EA1177-84B7-4548-8D14-BA367FE1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38875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relationship-path">
            <a:extLst xmlns:a="http://schemas.openxmlformats.org/drawingml/2006/main">
              <a:ext uri="{FF2B5EF4-FFF2-40B4-BE49-F238E27FC236}">
                <a16:creationId xmlns:a16="http://schemas.microsoft.com/office/drawing/2014/main" id="{611DA6F6-2925-4997-86F9-22FCED8C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524250"/>
            <a:ext cx="7886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solidFill>
              <a:srgbClr val="D0EDFA"/>
            </a:solidFill>
            <a:prstDash val="solid"/>
          </a:ln>
        </p:spPr>
      </p:sp>
      <p:sp>
        <p:nvSpPr>
          <p:cNvPr id="7" name="relationship-node-1">
            <a:extLst xmlns:a="http://schemas.openxmlformats.org/drawingml/2006/main">
              <a:ext uri="{FF2B5EF4-FFF2-40B4-BE49-F238E27FC236}">
                <a16:creationId xmlns:a16="http://schemas.microsoft.com/office/drawing/2014/main" id="{F33E9FF6-1F35-4ECD-AD61-1138C6A0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8" name="relationship-title-1">
            <a:extLst xmlns:a="http://schemas.openxmlformats.org/drawingml/2006/main">
              <a:ext uri="{FF2B5EF4-FFF2-40B4-BE49-F238E27FC236}">
                <a16:creationId xmlns:a16="http://schemas.microsoft.com/office/drawing/2014/main" id="{39CF22C8-59E4-470A-B5B7-F663C369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14625"/>
            <a:ext cx="26098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TERMINAL</a:t>
            </a:r>
          </a:p>
        </p:txBody>
      </p:sp>
      <p:sp>
        <p:nvSpPr>
          <p:cNvPr id="9" name="relationship-body-1">
            <a:extLst xmlns:a="http://schemas.openxmlformats.org/drawingml/2006/main">
              <a:ext uri="{FF2B5EF4-FFF2-40B4-BE49-F238E27FC236}">
                <a16:creationId xmlns:a16="http://schemas.microsoft.com/office/drawing/2014/main" id="{89E2F3BC-9DFC-4D5B-828D-F6A2AADD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81375"/>
            <a:ext cx="26098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The window or interface
where you type</a:t>
            </a:r>
          </a:p>
        </p:txBody>
      </p:sp>
      <p:sp>
        <p:nvSpPr>
          <p:cNvPr id="10" name="relationship-node-2">
            <a:extLst xmlns:a="http://schemas.openxmlformats.org/drawingml/2006/main">
              <a:ext uri="{FF2B5EF4-FFF2-40B4-BE49-F238E27FC236}">
                <a16:creationId xmlns:a16="http://schemas.microsoft.com/office/drawing/2014/main" id="{0FB3F145-D143-4468-A861-7B04CD933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3812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solidFill>
              <a:srgbClr val="D0EDFA"/>
            </a:solidFill>
            <a:prstDash val="solid"/>
          </a:ln>
        </p:spPr>
      </p:sp>
      <p:sp>
        <p:nvSpPr>
          <p:cNvPr id="11" name="relationship-title-2">
            <a:extLst xmlns:a="http://schemas.openxmlformats.org/drawingml/2006/main">
              <a:ext uri="{FF2B5EF4-FFF2-40B4-BE49-F238E27FC236}">
                <a16:creationId xmlns:a16="http://schemas.microsoft.com/office/drawing/2014/main" id="{227657E8-0483-4099-9207-17557FB3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714625"/>
            <a:ext cx="26098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BASH SHELL</a:t>
            </a:r>
          </a:p>
        </p:txBody>
      </p:sp>
      <p:sp>
        <p:nvSpPr>
          <p:cNvPr id="12" name="relationship-body-2">
            <a:extLst xmlns:a="http://schemas.openxmlformats.org/drawingml/2006/main">
              <a:ext uri="{FF2B5EF4-FFF2-40B4-BE49-F238E27FC236}">
                <a16:creationId xmlns:a16="http://schemas.microsoft.com/office/drawing/2014/main" id="{47C09B77-BF70-47E1-92FA-28E97F92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81375"/>
            <a:ext cx="26098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Reads commands and
requests work</a:t>
            </a:r>
          </a:p>
        </p:txBody>
      </p:sp>
      <p:sp>
        <p:nvSpPr>
          <p:cNvPr id="13" name="relationship-node-3">
            <a:extLst xmlns:a="http://schemas.openxmlformats.org/drawingml/2006/main">
              <a:ext uri="{FF2B5EF4-FFF2-40B4-BE49-F238E27FC236}">
                <a16:creationId xmlns:a16="http://schemas.microsoft.com/office/drawing/2014/main" id="{74B13D7E-A619-44D5-8466-43C4983A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81250"/>
            <a:ext cx="3143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4" name="relationship-title-3">
            <a:extLst xmlns:a="http://schemas.openxmlformats.org/drawingml/2006/main">
              <a:ext uri="{FF2B5EF4-FFF2-40B4-BE49-F238E27FC236}">
                <a16:creationId xmlns:a16="http://schemas.microsoft.com/office/drawing/2014/main" id="{CFEC1852-757E-4AB1-A5EC-C165776B7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14625"/>
            <a:ext cx="26098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COMMAND / SCRIPT</a:t>
            </a:r>
          </a:p>
        </p:txBody>
      </p:sp>
      <p:sp>
        <p:nvSpPr>
          <p:cNvPr id="15" name="relationship-body-3">
            <a:extLst xmlns:a="http://schemas.openxmlformats.org/drawingml/2006/main">
              <a:ext uri="{FF2B5EF4-FFF2-40B4-BE49-F238E27FC236}">
                <a16:creationId xmlns:a16="http://schemas.microsoft.com/office/drawing/2014/main" id="{79E96D82-46E3-46D8-98B5-F85DEEC0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81375"/>
            <a:ext cx="26098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One instruction or a
stored sequence</a:t>
            </a:r>
          </a:p>
        </p:txBody>
      </p:sp>
      <p:sp>
        <p:nvSpPr>
          <p:cNvPr id="16" name="input-label">
            <a:extLst xmlns:a="http://schemas.openxmlformats.org/drawingml/2006/main">
              <a:ext uri="{FF2B5EF4-FFF2-40B4-BE49-F238E27FC236}">
                <a16:creationId xmlns:a16="http://schemas.microsoft.com/office/drawing/2014/main" id="{F6D47144-0975-498B-A0EE-E01FBB7DC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238500"/>
            <a:ext cx="80962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INPUT</a:t>
            </a:r>
          </a:p>
        </p:txBody>
      </p:sp>
      <p:sp>
        <p:nvSpPr>
          <p:cNvPr id="17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FE51A771-E5EA-49F8-8C11-150D48FA0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38500"/>
            <a:ext cx="80962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ACTION</a:t>
            </a:r>
          </a:p>
        </p:txBody>
      </p:sp>
      <p:sp>
        <p:nvSpPr>
          <p:cNvPr id="18" name="relationship-takeaway">
            <a:extLst xmlns:a="http://schemas.openxmlformats.org/drawingml/2006/main">
              <a:ext uri="{FF2B5EF4-FFF2-40B4-BE49-F238E27FC236}">
                <a16:creationId xmlns:a16="http://schemas.microsoft.com/office/drawing/2014/main" id="{F34F5E5B-2525-441C-9D37-27D7FEF8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38750"/>
            <a:ext cx="9620250" cy="523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A terminal can host different shells. Bash is one shell and also a scripting language.</a:t>
            </a:r>
          </a:p>
        </p:txBody>
      </p:sp>
    </p:spTree>
    <p:extLst>
      <p:ext uri="{BB962C8B-B14F-4D97-AF65-F5344CB8AC3E}">
        <p14:creationId xmlns:p14="http://schemas.microsoft.com/office/powerpoint/2010/main" val="6280484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4">
            <a:extLst xmlns:a="http://schemas.openxmlformats.org/drawingml/2006/main">
              <a:ext uri="{FF2B5EF4-FFF2-40B4-BE49-F238E27FC236}">
                <a16:creationId xmlns:a16="http://schemas.microsoft.com/office/drawing/2014/main" id="{F570B76C-9F05-477B-A5BA-8220FF0D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BASH SCRIPTING | WEEK 1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32D3A018-F001-4A1A-8763-37037D9B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A script is a file that Bash reads from top to bottom</a:t>
            </a:r>
          </a:p>
        </p:txBody>
      </p:sp>
      <p:sp>
        <p:nvSpPr>
          <p:cNvPr id="3" name="header-rule-4">
            <a:extLst xmlns:a="http://schemas.openxmlformats.org/drawingml/2006/main">
              <a:ext uri="{FF2B5EF4-FFF2-40B4-BE49-F238E27FC236}">
                <a16:creationId xmlns:a16="http://schemas.microsoft.com/office/drawing/2014/main" id="{EBC005E9-968F-4919-B7C4-2949DD14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25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24D1D9F1-B903-44B5-962A-A3CB7AB0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38875"/>
            <a:ext cx="495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5" name="footer-4">
            <a:extLst xmlns:a="http://schemas.openxmlformats.org/drawingml/2006/main">
              <a:ext uri="{FF2B5EF4-FFF2-40B4-BE49-F238E27FC236}">
                <a16:creationId xmlns:a16="http://schemas.microsoft.com/office/drawing/2014/main" id="{500FE300-6093-410B-BE99-009D30BC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38875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execution-path">
            <a:extLst xmlns:a="http://schemas.openxmlformats.org/drawingml/2006/main">
              <a:ext uri="{FF2B5EF4-FFF2-40B4-BE49-F238E27FC236}">
                <a16:creationId xmlns:a16="http://schemas.microsoft.com/office/drawing/2014/main" id="{3F702DAC-ED39-4CB8-8B9C-B37950CA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81375"/>
            <a:ext cx="93821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solidFill>
              <a:srgbClr val="D0EDFA"/>
            </a:solidFill>
            <a:prstDash val="solid"/>
          </a:ln>
        </p:spPr>
      </p:sp>
      <p:sp>
        <p:nvSpPr>
          <p:cNvPr id="7" name="execution-step-1">
            <a:extLst xmlns:a="http://schemas.openxmlformats.org/drawingml/2006/main">
              <a:ext uri="{FF2B5EF4-FFF2-40B4-BE49-F238E27FC236}">
                <a16:creationId xmlns:a16="http://schemas.microsoft.com/office/drawing/2014/main" id="{07B98355-83F4-408A-B9E8-2205544B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22860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8" name="execution-num-1">
            <a:extLst xmlns:a="http://schemas.openxmlformats.org/drawingml/2006/main">
              <a:ext uri="{FF2B5EF4-FFF2-40B4-BE49-F238E27FC236}">
                <a16:creationId xmlns:a16="http://schemas.microsoft.com/office/drawing/2014/main" id="{983EECBF-BA31-4A15-8469-043981A5F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381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execution-title-1">
            <a:extLst xmlns:a="http://schemas.openxmlformats.org/drawingml/2006/main">
              <a:ext uri="{FF2B5EF4-FFF2-40B4-BE49-F238E27FC236}">
                <a16:creationId xmlns:a16="http://schemas.microsoft.com/office/drawing/2014/main" id="{7B858F0E-B991-4F1E-B0A9-A501DEB9B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1809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WRITE</a:t>
            </a:r>
          </a:p>
        </p:txBody>
      </p:sp>
      <p:sp>
        <p:nvSpPr>
          <p:cNvPr id="10" name="execution-body-1">
            <a:extLst xmlns:a="http://schemas.openxmlformats.org/drawingml/2006/main">
              <a:ext uri="{FF2B5EF4-FFF2-40B4-BE49-F238E27FC236}">
                <a16:creationId xmlns:a16="http://schemas.microsoft.com/office/drawing/2014/main" id="{0EF33212-9203-453F-9845-C654ED00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62375"/>
            <a:ext cx="1809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Create a text file</a:t>
            </a:r>
          </a:p>
        </p:txBody>
      </p:sp>
      <p:sp>
        <p:nvSpPr>
          <p:cNvPr id="11" name="execution-step-2">
            <a:extLst xmlns:a="http://schemas.openxmlformats.org/drawingml/2006/main">
              <a:ext uri="{FF2B5EF4-FFF2-40B4-BE49-F238E27FC236}">
                <a16:creationId xmlns:a16="http://schemas.microsoft.com/office/drawing/2014/main" id="{FA4A07CB-9612-4490-8783-77905AFE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57450"/>
            <a:ext cx="22860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solidFill>
              <a:srgbClr val="D0EDFA"/>
            </a:solidFill>
            <a:prstDash val="solid"/>
          </a:ln>
        </p:spPr>
      </p:sp>
      <p:sp>
        <p:nvSpPr>
          <p:cNvPr id="12" name="execution-num-2">
            <a:extLst xmlns:a="http://schemas.openxmlformats.org/drawingml/2006/main">
              <a:ext uri="{FF2B5EF4-FFF2-40B4-BE49-F238E27FC236}">
                <a16:creationId xmlns:a16="http://schemas.microsoft.com/office/drawing/2014/main" id="{C49EF0B8-D641-4AD3-812B-D76FFA4C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647950"/>
            <a:ext cx="381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3" name="execution-title-2">
            <a:extLst xmlns:a="http://schemas.openxmlformats.org/drawingml/2006/main">
              <a:ext uri="{FF2B5EF4-FFF2-40B4-BE49-F238E27FC236}">
                <a16:creationId xmlns:a16="http://schemas.microsoft.com/office/drawing/2014/main" id="{DE757F37-9477-40EE-B134-4A114798F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43250"/>
            <a:ext cx="1809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SELECT</a:t>
            </a:r>
          </a:p>
        </p:txBody>
      </p:sp>
      <p:sp>
        <p:nvSpPr>
          <p:cNvPr id="14" name="execution-body-2">
            <a:extLst xmlns:a="http://schemas.openxmlformats.org/drawingml/2006/main">
              <a:ext uri="{FF2B5EF4-FFF2-40B4-BE49-F238E27FC236}">
                <a16:creationId xmlns:a16="http://schemas.microsoft.com/office/drawing/2014/main" id="{054335C5-BB77-41E0-8B1F-8EA36C7F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762375"/>
            <a:ext cx="1809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Choose Bash</a:t>
            </a:r>
          </a:p>
        </p:txBody>
      </p:sp>
      <p:sp>
        <p:nvSpPr>
          <p:cNvPr id="15" name="execution-step-3">
            <a:extLst xmlns:a="http://schemas.openxmlformats.org/drawingml/2006/main">
              <a:ext uri="{FF2B5EF4-FFF2-40B4-BE49-F238E27FC236}">
                <a16:creationId xmlns:a16="http://schemas.microsoft.com/office/drawing/2014/main" id="{49FFC168-3767-4AA1-A8D9-3842DCF8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57450"/>
            <a:ext cx="22860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6" name="execution-num-3">
            <a:extLst xmlns:a="http://schemas.openxmlformats.org/drawingml/2006/main">
              <a:ext uri="{FF2B5EF4-FFF2-40B4-BE49-F238E27FC236}">
                <a16:creationId xmlns:a16="http://schemas.microsoft.com/office/drawing/2014/main" id="{F2B2BC9F-C098-428D-A63A-BB81CE03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47950"/>
            <a:ext cx="381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7" name="execution-title-3">
            <a:extLst xmlns:a="http://schemas.openxmlformats.org/drawingml/2006/main">
              <a:ext uri="{FF2B5EF4-FFF2-40B4-BE49-F238E27FC236}">
                <a16:creationId xmlns:a16="http://schemas.microsoft.com/office/drawing/2014/main" id="{B8702EAC-ADEC-434B-B3F2-0068D365B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43250"/>
            <a:ext cx="1809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EXECUTE</a:t>
            </a:r>
          </a:p>
        </p:txBody>
      </p:sp>
      <p:sp>
        <p:nvSpPr>
          <p:cNvPr id="18" name="execution-body-3">
            <a:extLst xmlns:a="http://schemas.openxmlformats.org/drawingml/2006/main">
              <a:ext uri="{FF2B5EF4-FFF2-40B4-BE49-F238E27FC236}">
                <a16:creationId xmlns:a16="http://schemas.microsoft.com/office/drawing/2014/main" id="{86B0658D-A335-4AF5-9389-5C0DC047F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62375"/>
            <a:ext cx="1809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Run each command</a:t>
            </a:r>
          </a:p>
        </p:txBody>
      </p:sp>
      <p:sp>
        <p:nvSpPr>
          <p:cNvPr id="19" name="execution-step-4">
            <a:extLst xmlns:a="http://schemas.openxmlformats.org/drawingml/2006/main">
              <a:ext uri="{FF2B5EF4-FFF2-40B4-BE49-F238E27FC236}">
                <a16:creationId xmlns:a16="http://schemas.microsoft.com/office/drawing/2014/main" id="{8414DC0E-9C4D-43B1-9E4A-BEA5A149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457450"/>
            <a:ext cx="22860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20" name="execution-num-4">
            <a:extLst xmlns:a="http://schemas.openxmlformats.org/drawingml/2006/main">
              <a:ext uri="{FF2B5EF4-FFF2-40B4-BE49-F238E27FC236}">
                <a16:creationId xmlns:a16="http://schemas.microsoft.com/office/drawing/2014/main" id="{C1116C0C-6503-4E20-A0EA-E632175E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647950"/>
            <a:ext cx="381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  <p:sp>
        <p:nvSpPr>
          <p:cNvPr id="21" name="execution-title-4">
            <a:extLst xmlns:a="http://schemas.openxmlformats.org/drawingml/2006/main">
              <a:ext uri="{FF2B5EF4-FFF2-40B4-BE49-F238E27FC236}">
                <a16:creationId xmlns:a16="http://schemas.microsoft.com/office/drawing/2014/main" id="{1D3B09F2-B96D-4551-9BF4-C9944412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143250"/>
            <a:ext cx="1809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OBSERVE</a:t>
            </a:r>
          </a:p>
        </p:txBody>
      </p:sp>
      <p:sp>
        <p:nvSpPr>
          <p:cNvPr id="22" name="execution-body-4">
            <a:extLst xmlns:a="http://schemas.openxmlformats.org/drawingml/2006/main">
              <a:ext uri="{FF2B5EF4-FFF2-40B4-BE49-F238E27FC236}">
                <a16:creationId xmlns:a16="http://schemas.microsoft.com/office/drawing/2014/main" id="{8467F825-5D62-4BC6-94B6-403AFAF5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762375"/>
            <a:ext cx="1809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Read output + status</a:t>
            </a:r>
          </a:p>
        </p:txBody>
      </p:sp>
      <p:sp>
        <p:nvSpPr>
          <p:cNvPr id="23" name="execution-command">
            <a:extLst xmlns:a="http://schemas.openxmlformats.org/drawingml/2006/main">
              <a:ext uri="{FF2B5EF4-FFF2-40B4-BE49-F238E27FC236}">
                <a16:creationId xmlns:a16="http://schemas.microsoft.com/office/drawing/2014/main" id="{B48B9923-7B17-4440-B3FF-36A0AB6E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53000"/>
            <a:ext cx="8382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solidFill>
              <a:srgbClr val="17212B"/>
            </a:solidFill>
            <a:prstDash val="solid"/>
          </a:ln>
        </p:spPr>
      </p:sp>
      <p:sp>
        <p:nvSpPr>
          <p:cNvPr id="24" name="execution-code">
            <a:extLst xmlns:a="http://schemas.openxmlformats.org/drawingml/2006/main">
              <a:ext uri="{FF2B5EF4-FFF2-40B4-BE49-F238E27FC236}">
                <a16:creationId xmlns:a16="http://schemas.microsoft.com/office/drawing/2014/main" id="{4B9843A0-2184-452E-BEDF-6FE4400E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7905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editor -&gt; first-script.sh -&gt; bash -&gt; commands -&gt; output + exit status</a:t>
            </a:r>
          </a:p>
        </p:txBody>
      </p:sp>
    </p:spTree>
    <p:extLst>
      <p:ext uri="{BB962C8B-B14F-4D97-AF65-F5344CB8AC3E}">
        <p14:creationId xmlns:p14="http://schemas.microsoft.com/office/powerpoint/2010/main" val="8852343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5">
            <a:extLst xmlns:a="http://schemas.openxmlformats.org/drawingml/2006/main">
              <a:ext uri="{FF2B5EF4-FFF2-40B4-BE49-F238E27FC236}">
                <a16:creationId xmlns:a16="http://schemas.microsoft.com/office/drawing/2014/main" id="{09913971-F80D-4251-8101-1C2DE336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BASH SCRIPTING | WEEK 1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61C671B4-382C-42F0-8AE1-4949E263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Four parts make a first script readable and runnable</a:t>
            </a:r>
          </a:p>
        </p:txBody>
      </p:sp>
      <p:sp>
        <p:nvSpPr>
          <p:cNvPr id="3" name="header-rule-5">
            <a:extLst xmlns:a="http://schemas.openxmlformats.org/drawingml/2006/main">
              <a:ext uri="{FF2B5EF4-FFF2-40B4-BE49-F238E27FC236}">
                <a16:creationId xmlns:a16="http://schemas.microsoft.com/office/drawing/2014/main" id="{3DE6CFB6-C85B-4201-813B-828665EF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25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1DBA51ED-3636-4850-B68E-7871538A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38875"/>
            <a:ext cx="495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5" name="footer-5">
            <a:extLst xmlns:a="http://schemas.openxmlformats.org/drawingml/2006/main">
              <a:ext uri="{FF2B5EF4-FFF2-40B4-BE49-F238E27FC236}">
                <a16:creationId xmlns:a16="http://schemas.microsoft.com/office/drawing/2014/main" id="{15B03105-F2D5-4653-A692-D7D902E69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38875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anatomy-code-bg">
            <a:extLst xmlns:a="http://schemas.openxmlformats.org/drawingml/2006/main">
              <a:ext uri="{FF2B5EF4-FFF2-40B4-BE49-F238E27FC236}">
                <a16:creationId xmlns:a16="http://schemas.microsoft.com/office/drawing/2014/main" id="{0B4E4A24-ABEB-4B67-B1A1-562E7F97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52625"/>
            <a:ext cx="56197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solidFill>
              <a:srgbClr val="17212B"/>
            </a:solidFill>
            <a:prstDash val="solid"/>
          </a:ln>
        </p:spPr>
      </p:sp>
      <p:sp>
        <p:nvSpPr>
          <p:cNvPr id="7" name="anatomy-code">
            <a:extLst xmlns:a="http://schemas.openxmlformats.org/drawingml/2006/main">
              <a:ext uri="{FF2B5EF4-FFF2-40B4-BE49-F238E27FC236}">
                <a16:creationId xmlns:a16="http://schemas.microsoft.com/office/drawing/2014/main" id="{7DCF98A9-4819-464C-A623-F976356E8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86000"/>
            <a:ext cx="5048250" cy="3000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#!/usr/bin/env bash
# Display identity information
printf '%s\n' 'System Identity'
whoami
hostname
pwd</a:t>
            </a:r>
          </a:p>
        </p:txBody>
      </p:sp>
      <p:sp>
        <p:nvSpPr>
          <p:cNvPr id="8" name="anatomy-num-01">
            <a:extLst xmlns:a="http://schemas.openxmlformats.org/drawingml/2006/main">
              <a:ext uri="{FF2B5EF4-FFF2-40B4-BE49-F238E27FC236}">
                <a16:creationId xmlns:a16="http://schemas.microsoft.com/office/drawing/2014/main" id="{24C2E370-F44B-478F-A290-6DA0939A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81200"/>
            <a:ext cx="457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9" name="anatomy-title-01">
            <a:extLst xmlns:a="http://schemas.openxmlformats.org/drawingml/2006/main">
              <a:ext uri="{FF2B5EF4-FFF2-40B4-BE49-F238E27FC236}">
                <a16:creationId xmlns:a16="http://schemas.microsoft.com/office/drawing/2014/main" id="{F9737FEC-25B1-4E0D-A6AC-5960297A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981200"/>
            <a:ext cx="2571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SHEBANG</a:t>
            </a:r>
          </a:p>
        </p:txBody>
      </p:sp>
      <p:sp>
        <p:nvSpPr>
          <p:cNvPr id="10" name="anatomy-body-01">
            <a:extLst xmlns:a="http://schemas.openxmlformats.org/drawingml/2006/main">
              <a:ext uri="{FF2B5EF4-FFF2-40B4-BE49-F238E27FC236}">
                <a16:creationId xmlns:a16="http://schemas.microsoft.com/office/drawing/2014/main" id="{25E227FB-214B-4680-BD58-3590E627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52675"/>
            <a:ext cx="4095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Selects Bash for direct execution.</a:t>
            </a:r>
          </a:p>
        </p:txBody>
      </p:sp>
      <p:sp>
        <p:nvSpPr>
          <p:cNvPr id="11" name="anatomy-num-02">
            <a:extLst xmlns:a="http://schemas.openxmlformats.org/drawingml/2006/main">
              <a:ext uri="{FF2B5EF4-FFF2-40B4-BE49-F238E27FC236}">
                <a16:creationId xmlns:a16="http://schemas.microsoft.com/office/drawing/2014/main" id="{564F6392-DE3F-4E2E-919E-31048CF15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57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2" name="anatomy-title-02">
            <a:extLst xmlns:a="http://schemas.openxmlformats.org/drawingml/2006/main">
              <a:ext uri="{FF2B5EF4-FFF2-40B4-BE49-F238E27FC236}">
                <a16:creationId xmlns:a16="http://schemas.microsoft.com/office/drawing/2014/main" id="{957779C8-3430-4170-B077-ED2D4CF7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905125"/>
            <a:ext cx="2571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DESCRIPTION</a:t>
            </a:r>
          </a:p>
        </p:txBody>
      </p:sp>
      <p:sp>
        <p:nvSpPr>
          <p:cNvPr id="13" name="anatomy-body-02">
            <a:extLst xmlns:a="http://schemas.openxmlformats.org/drawingml/2006/main">
              <a:ext uri="{FF2B5EF4-FFF2-40B4-BE49-F238E27FC236}">
                <a16:creationId xmlns:a16="http://schemas.microsoft.com/office/drawing/2014/main" id="{D48ED6C5-FFED-4B87-A22E-22C7F892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276600"/>
            <a:ext cx="4095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Explains the script's purpose.</a:t>
            </a:r>
          </a:p>
        </p:txBody>
      </p:sp>
      <p:sp>
        <p:nvSpPr>
          <p:cNvPr id="14" name="anatomy-num-03">
            <a:extLst xmlns:a="http://schemas.openxmlformats.org/drawingml/2006/main">
              <a:ext uri="{FF2B5EF4-FFF2-40B4-BE49-F238E27FC236}">
                <a16:creationId xmlns:a16="http://schemas.microsoft.com/office/drawing/2014/main" id="{3E18E715-59A4-4156-B892-A72A3EF0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29050"/>
            <a:ext cx="457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5" name="anatomy-title-03">
            <a:extLst xmlns:a="http://schemas.openxmlformats.org/drawingml/2006/main">
              <a:ext uri="{FF2B5EF4-FFF2-40B4-BE49-F238E27FC236}">
                <a16:creationId xmlns:a16="http://schemas.microsoft.com/office/drawing/2014/main" id="{FE58FDE6-9B2A-48AF-81DE-292E0D00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829050"/>
            <a:ext cx="2571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OUTPUT</a:t>
            </a:r>
          </a:p>
        </p:txBody>
      </p:sp>
      <p:sp>
        <p:nvSpPr>
          <p:cNvPr id="16" name="anatomy-body-03">
            <a:extLst xmlns:a="http://schemas.openxmlformats.org/drawingml/2006/main">
              <a:ext uri="{FF2B5EF4-FFF2-40B4-BE49-F238E27FC236}">
                <a16:creationId xmlns:a16="http://schemas.microsoft.com/office/drawing/2014/main" id="{B0D2B9F4-ED1D-4D26-836F-8712C48B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200525"/>
            <a:ext cx="4095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Gives the reader clear context.</a:t>
            </a:r>
          </a:p>
        </p:txBody>
      </p:sp>
      <p:sp>
        <p:nvSpPr>
          <p:cNvPr id="17" name="anatomy-num-04">
            <a:extLst xmlns:a="http://schemas.openxmlformats.org/drawingml/2006/main">
              <a:ext uri="{FF2B5EF4-FFF2-40B4-BE49-F238E27FC236}">
                <a16:creationId xmlns:a16="http://schemas.microsoft.com/office/drawing/2014/main" id="{3BF27C17-6DA1-47C7-BEB1-A452313F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52975"/>
            <a:ext cx="457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8" name="anatomy-title-04">
            <a:extLst xmlns:a="http://schemas.openxmlformats.org/drawingml/2006/main">
              <a:ext uri="{FF2B5EF4-FFF2-40B4-BE49-F238E27FC236}">
                <a16:creationId xmlns:a16="http://schemas.microsoft.com/office/drawing/2014/main" id="{27DE7CEC-526D-48B9-8848-5C18C538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752975"/>
            <a:ext cx="2571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COMMANDS</a:t>
            </a:r>
          </a:p>
        </p:txBody>
      </p:sp>
      <p:sp>
        <p:nvSpPr>
          <p:cNvPr id="19" name="anatomy-body-04">
            <a:extLst xmlns:a="http://schemas.openxmlformats.org/drawingml/2006/main">
              <a:ext uri="{FF2B5EF4-FFF2-40B4-BE49-F238E27FC236}">
                <a16:creationId xmlns:a16="http://schemas.microsoft.com/office/drawing/2014/main" id="{6EC9FE61-0710-4010-855A-D25D5AB8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24450"/>
            <a:ext cx="4095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Perform the requested work.</a:t>
            </a:r>
          </a:p>
        </p:txBody>
      </p:sp>
    </p:spTree>
    <p:extLst>
      <p:ext uri="{BB962C8B-B14F-4D97-AF65-F5344CB8AC3E}">
        <p14:creationId xmlns:p14="http://schemas.microsoft.com/office/powerpoint/2010/main" val="5761892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6">
            <a:extLst xmlns:a="http://schemas.openxmlformats.org/drawingml/2006/main">
              <a:ext uri="{FF2B5EF4-FFF2-40B4-BE49-F238E27FC236}">
                <a16:creationId xmlns:a16="http://schemas.microsoft.com/office/drawing/2014/main" id="{DA0FC8E9-B56B-4A1C-8B97-165F74A8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BASH SCRIPTING | WEEK 1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88963E5D-627C-44CC-9041-7F8EDE31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8281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The execution method determines which requirements apply</a:t>
            </a:r>
          </a:p>
        </p:txBody>
      </p:sp>
      <p:sp>
        <p:nvSpPr>
          <p:cNvPr id="3" name="header-rule-6">
            <a:extLst xmlns:a="http://schemas.openxmlformats.org/drawingml/2006/main">
              <a:ext uri="{FF2B5EF4-FFF2-40B4-BE49-F238E27FC236}">
                <a16:creationId xmlns:a16="http://schemas.microsoft.com/office/drawing/2014/main" id="{5BF57935-73D8-4044-9B9F-90A94190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25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4" name="page-6">
            <a:extLst xmlns:a="http://schemas.openxmlformats.org/drawingml/2006/main">
              <a:ext uri="{FF2B5EF4-FFF2-40B4-BE49-F238E27FC236}">
                <a16:creationId xmlns:a16="http://schemas.microsoft.com/office/drawing/2014/main" id="{9C8B7B92-8270-4AEE-A46D-568FBCC2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38875"/>
            <a:ext cx="495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sp>
        <p:nvSpPr>
          <p:cNvPr id="5" name="footer-6">
            <a:extLst xmlns:a="http://schemas.openxmlformats.org/drawingml/2006/main">
              <a:ext uri="{FF2B5EF4-FFF2-40B4-BE49-F238E27FC236}">
                <a16:creationId xmlns:a16="http://schemas.microsoft.com/office/drawing/2014/main" id="{5C4E846F-FCFE-49FC-939B-6131EAEB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38875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run-bash-panel">
            <a:extLst xmlns:a="http://schemas.openxmlformats.org/drawingml/2006/main">
              <a:ext uri="{FF2B5EF4-FFF2-40B4-BE49-F238E27FC236}">
                <a16:creationId xmlns:a16="http://schemas.microsoft.com/office/drawing/2014/main" id="{3DE93601-35E3-4C20-8AF9-B0E533FB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52625"/>
            <a:ext cx="53340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7" name="run-direct-panel">
            <a:extLst xmlns:a="http://schemas.openxmlformats.org/drawingml/2006/main">
              <a:ext uri="{FF2B5EF4-FFF2-40B4-BE49-F238E27FC236}">
                <a16:creationId xmlns:a16="http://schemas.microsoft.com/office/drawing/2014/main" id="{478F4704-4666-4F64-80CF-8F72640A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52625"/>
            <a:ext cx="53340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solidFill>
              <a:srgbClr val="D0EDFA"/>
            </a:solidFill>
            <a:prstDash val="solid"/>
          </a:ln>
        </p:spPr>
      </p:sp>
      <p:sp>
        <p:nvSpPr>
          <p:cNvPr id="8" name="method1-label">
            <a:extLst xmlns:a="http://schemas.openxmlformats.org/drawingml/2006/main">
              <a:ext uri="{FF2B5EF4-FFF2-40B4-BE49-F238E27FC236}">
                <a16:creationId xmlns:a16="http://schemas.microsoft.com/office/drawing/2014/main" id="{0D997D63-31BF-423C-9EC2-657CEF56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171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METHOD 1</a:t>
            </a:r>
          </a:p>
        </p:txBody>
      </p:sp>
      <p:sp>
        <p:nvSpPr>
          <p:cNvPr id="9" name="method1-code">
            <a:extLst xmlns:a="http://schemas.openxmlformats.org/drawingml/2006/main">
              <a:ext uri="{FF2B5EF4-FFF2-40B4-BE49-F238E27FC236}">
                <a16:creationId xmlns:a16="http://schemas.microsoft.com/office/drawing/2014/main" id="{2DDE7B55-4599-46C8-AE8A-81F94598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9875"/>
            <a:ext cx="4476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t>bash script.sh</a:t>
            </a:r>
          </a:p>
        </p:txBody>
      </p:sp>
      <p:sp>
        <p:nvSpPr>
          <p:cNvPr id="10" name="method1-body">
            <a:extLst xmlns:a="http://schemas.openxmlformats.org/drawingml/2006/main">
              <a:ext uri="{FF2B5EF4-FFF2-40B4-BE49-F238E27FC236}">
                <a16:creationId xmlns:a16="http://schemas.microsoft.com/office/drawing/2014/main" id="{D43F6CDD-7139-49C5-89CD-088361E2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2862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Bash is selected explicitly.
The file must be readable.
Execute permission is not required.</a:t>
            </a:r>
          </a:p>
        </p:txBody>
      </p:sp>
      <p:sp>
        <p:nvSpPr>
          <p:cNvPr id="11" name="method2-label">
            <a:extLst xmlns:a="http://schemas.openxmlformats.org/drawingml/2006/main">
              <a:ext uri="{FF2B5EF4-FFF2-40B4-BE49-F238E27FC236}">
                <a16:creationId xmlns:a16="http://schemas.microsoft.com/office/drawing/2014/main" id="{5269CF32-EECF-490C-85E9-F49BC7E2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247900"/>
            <a:ext cx="171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METHOD 2</a:t>
            </a:r>
          </a:p>
        </p:txBody>
      </p:sp>
      <p:sp>
        <p:nvSpPr>
          <p:cNvPr id="12" name="method2-code">
            <a:extLst xmlns:a="http://schemas.openxmlformats.org/drawingml/2006/main">
              <a:ext uri="{FF2B5EF4-FFF2-40B4-BE49-F238E27FC236}">
                <a16:creationId xmlns:a16="http://schemas.microsoft.com/office/drawing/2014/main" id="{7E411E53-9859-40F9-AEAF-FD5381E2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09875"/>
            <a:ext cx="4476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t>./script.sh</a:t>
            </a:r>
          </a:p>
        </p:txBody>
      </p:sp>
      <p:sp>
        <p:nvSpPr>
          <p:cNvPr id="13" name="method2-body">
            <a:extLst xmlns:a="http://schemas.openxmlformats.org/drawingml/2006/main">
              <a:ext uri="{FF2B5EF4-FFF2-40B4-BE49-F238E27FC236}">
                <a16:creationId xmlns:a16="http://schemas.microsoft.com/office/drawing/2014/main" id="{D334C155-859E-4828-BDF2-96450246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714750"/>
            <a:ext cx="42862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The system reads the shebang.
The file must be executable.
./ means the current directory.</a:t>
            </a:r>
          </a:p>
        </p:txBody>
      </p:sp>
      <p:sp>
        <p:nvSpPr>
          <p:cNvPr id="14" name="permission-takeaway-bg">
            <a:extLst xmlns:a="http://schemas.openxmlformats.org/drawingml/2006/main">
              <a:ext uri="{FF2B5EF4-FFF2-40B4-BE49-F238E27FC236}">
                <a16:creationId xmlns:a16="http://schemas.microsoft.com/office/drawing/2014/main" id="{43E6BADE-E45A-4482-9D47-2416E43CE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476875"/>
            <a:ext cx="81534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5" name="permission-takeaway">
            <a:extLst xmlns:a="http://schemas.openxmlformats.org/drawingml/2006/main">
              <a:ext uri="{FF2B5EF4-FFF2-40B4-BE49-F238E27FC236}">
                <a16:creationId xmlns:a16="http://schemas.microsoft.com/office/drawing/2014/main" id="{2BC849AD-9BE5-45B8-8239-1553B150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1975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 .sh filename does not grant permission - chmod +x changes the permission bits.</a:t>
            </a:r>
          </a:p>
        </p:txBody>
      </p:sp>
    </p:spTree>
    <p:extLst>
      <p:ext uri="{BB962C8B-B14F-4D97-AF65-F5344CB8AC3E}">
        <p14:creationId xmlns:p14="http://schemas.microsoft.com/office/powerpoint/2010/main" val="20041461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7">
            <a:extLst xmlns:a="http://schemas.openxmlformats.org/drawingml/2006/main">
              <a:ext uri="{FF2B5EF4-FFF2-40B4-BE49-F238E27FC236}">
                <a16:creationId xmlns:a16="http://schemas.microsoft.com/office/drawing/2014/main" id="{AE7AC8AB-7816-46AF-A688-6C22148A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LESSON 1 | INSTRUCTOR DEMONSTRATION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CB56BA25-468E-4FEC-93D9-904C43896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Guided demo: predict every line before execution</a:t>
            </a:r>
          </a:p>
        </p:txBody>
      </p:sp>
      <p:sp>
        <p:nvSpPr>
          <p:cNvPr id="3" name="header-rule-7">
            <a:extLst xmlns:a="http://schemas.openxmlformats.org/drawingml/2006/main">
              <a:ext uri="{FF2B5EF4-FFF2-40B4-BE49-F238E27FC236}">
                <a16:creationId xmlns:a16="http://schemas.microsoft.com/office/drawing/2014/main" id="{34A5244D-9F72-478C-A6B7-552E4F3D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25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4" name="page-7">
            <a:extLst xmlns:a="http://schemas.openxmlformats.org/drawingml/2006/main">
              <a:ext uri="{FF2B5EF4-FFF2-40B4-BE49-F238E27FC236}">
                <a16:creationId xmlns:a16="http://schemas.microsoft.com/office/drawing/2014/main" id="{095644F5-BA94-4CAC-B91F-6294CCB1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38875"/>
            <a:ext cx="495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  <p:sp>
        <p:nvSpPr>
          <p:cNvPr id="5" name="footer-7">
            <a:extLst xmlns:a="http://schemas.openxmlformats.org/drawingml/2006/main">
              <a:ext uri="{FF2B5EF4-FFF2-40B4-BE49-F238E27FC236}">
                <a16:creationId xmlns:a16="http://schemas.microsoft.com/office/drawing/2014/main" id="{193CF4C1-69C6-46BB-A680-6C5709572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38875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demo1-code-bg">
            <a:extLst xmlns:a="http://schemas.openxmlformats.org/drawingml/2006/main">
              <a:ext uri="{FF2B5EF4-FFF2-40B4-BE49-F238E27FC236}">
                <a16:creationId xmlns:a16="http://schemas.microsoft.com/office/drawing/2014/main" id="{2A82FC4C-13D6-4E30-8D57-3E3A903B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52625"/>
            <a:ext cx="72390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solidFill>
              <a:srgbClr val="17212B"/>
            </a:solidFill>
            <a:prstDash val="solid"/>
          </a:ln>
        </p:spPr>
      </p:sp>
      <p:sp>
        <p:nvSpPr>
          <p:cNvPr id="7" name="demo1-code">
            <a:extLst xmlns:a="http://schemas.openxmlformats.org/drawingml/2006/main">
              <a:ext uri="{FF2B5EF4-FFF2-40B4-BE49-F238E27FC236}">
                <a16:creationId xmlns:a16="http://schemas.microsoft.com/office/drawing/2014/main" id="{64333386-F9AD-4EF7-B1DA-B71915B9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38375"/>
            <a:ext cx="6667500" cy="3143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#!/usr/bin/env bash
printf '%s\n' '=== My First Bash Script ==='
printf 'User: %s\n' "$(whoami)"
printf 'Hostname: %s\n' "$(hostname)"
printf 'Current directory: %s\n' "$(pwd)"
printf 'Date: %s\n' "$(date)"</a:t>
            </a:r>
          </a:p>
        </p:txBody>
      </p:sp>
      <p:sp>
        <p:nvSpPr>
          <p:cNvPr id="8" name="demo1-run-label">
            <a:extLst xmlns:a="http://schemas.openxmlformats.org/drawingml/2006/main">
              <a:ext uri="{FF2B5EF4-FFF2-40B4-BE49-F238E27FC236}">
                <a16:creationId xmlns:a16="http://schemas.microsoft.com/office/drawing/2014/main" id="{51E76662-30E3-460F-9A63-08F48C8DC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47875"/>
            <a:ext cx="114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RUN</a:t>
            </a:r>
          </a:p>
        </p:txBody>
      </p:sp>
      <p:sp>
        <p:nvSpPr>
          <p:cNvPr id="9" name="demo1-run-code">
            <a:extLst xmlns:a="http://schemas.openxmlformats.org/drawingml/2006/main">
              <a:ext uri="{FF2B5EF4-FFF2-40B4-BE49-F238E27FC236}">
                <a16:creationId xmlns:a16="http://schemas.microsoft.com/office/drawing/2014/main" id="{9814E36F-D784-4E41-A250-37620BE6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24125"/>
            <a:ext cx="3143250" cy="1857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t>bash first-script.sh
chmod +x first-script.sh
./first-script.sh
echo $?</a:t>
            </a:r>
          </a:p>
        </p:txBody>
      </p:sp>
      <p:sp>
        <p:nvSpPr>
          <p:cNvPr id="10" name="demo1-check">
            <a:extLst xmlns:a="http://schemas.openxmlformats.org/drawingml/2006/main">
              <a:ext uri="{FF2B5EF4-FFF2-40B4-BE49-F238E27FC236}">
                <a16:creationId xmlns:a16="http://schemas.microsoft.com/office/drawing/2014/main" id="{BF3465A7-970A-4801-976D-5B126250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62500"/>
            <a:ext cx="31908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solidFill>
              <a:srgbClr val="D0EDFA"/>
            </a:solidFill>
            <a:prstDash val="solid"/>
          </a:ln>
        </p:spPr>
      </p:sp>
      <p:sp>
        <p:nvSpPr>
          <p:cNvPr id="11" name="demo1-check-text">
            <a:extLst xmlns:a="http://schemas.openxmlformats.org/drawingml/2006/main">
              <a:ext uri="{FF2B5EF4-FFF2-40B4-BE49-F238E27FC236}">
                <a16:creationId xmlns:a16="http://schemas.microsoft.com/office/drawing/2014/main" id="{D89D9198-2DFE-4E1B-847E-894CF16DC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953000"/>
            <a:ext cx="2714625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CHECK
Same output. Final status: 0.</a:t>
            </a:r>
          </a:p>
        </p:txBody>
      </p:sp>
    </p:spTree>
    <p:extLst>
      <p:ext uri="{BB962C8B-B14F-4D97-AF65-F5344CB8AC3E}">
        <p14:creationId xmlns:p14="http://schemas.microsoft.com/office/powerpoint/2010/main" val="2488751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8">
            <a:extLst xmlns:a="http://schemas.openxmlformats.org/drawingml/2006/main">
              <a:ext uri="{FF2B5EF4-FFF2-40B4-BE49-F238E27FC236}">
                <a16:creationId xmlns:a16="http://schemas.microsoft.com/office/drawing/2014/main" id="{45FA9238-4C5B-4FAB-A148-7DCDD640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LESSON 2 | EVIDENCE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F85B6F2-EC8F-458D-9041-3A8E7585D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Output, error, and status answer different questions</a:t>
            </a:r>
          </a:p>
        </p:txBody>
      </p:sp>
      <p:sp>
        <p:nvSpPr>
          <p:cNvPr id="3" name="header-rule-8">
            <a:extLst xmlns:a="http://schemas.openxmlformats.org/drawingml/2006/main">
              <a:ext uri="{FF2B5EF4-FFF2-40B4-BE49-F238E27FC236}">
                <a16:creationId xmlns:a16="http://schemas.microsoft.com/office/drawing/2014/main" id="{55B326D4-4AE9-41CA-BDB9-2562CF7D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25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4" name="page-8">
            <a:extLst xmlns:a="http://schemas.openxmlformats.org/drawingml/2006/main">
              <a:ext uri="{FF2B5EF4-FFF2-40B4-BE49-F238E27FC236}">
                <a16:creationId xmlns:a16="http://schemas.microsoft.com/office/drawing/2014/main" id="{3994DCB7-48BC-4446-BD6A-FCCDC146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38875"/>
            <a:ext cx="495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  <p:sp>
        <p:nvSpPr>
          <p:cNvPr id="5" name="footer-8">
            <a:extLst xmlns:a="http://schemas.openxmlformats.org/drawingml/2006/main">
              <a:ext uri="{FF2B5EF4-FFF2-40B4-BE49-F238E27FC236}">
                <a16:creationId xmlns:a16="http://schemas.microsoft.com/office/drawing/2014/main" id="{828B2ECF-52CC-4F0A-8DFD-95FCFA95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38875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evidence-panel-1">
            <a:extLst xmlns:a="http://schemas.openxmlformats.org/drawingml/2006/main">
              <a:ext uri="{FF2B5EF4-FFF2-40B4-BE49-F238E27FC236}">
                <a16:creationId xmlns:a16="http://schemas.microsoft.com/office/drawing/2014/main" id="{07FCABAB-9BE9-4660-BC0F-929D00D3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47875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7" name="evidence-title-1">
            <a:extLst xmlns:a="http://schemas.openxmlformats.org/drawingml/2006/main">
              <a:ext uri="{FF2B5EF4-FFF2-40B4-BE49-F238E27FC236}">
                <a16:creationId xmlns:a16="http://schemas.microsoft.com/office/drawing/2014/main" id="{2562575A-9E3E-422B-ABF3-712C80F5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29337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STANDARD OUTPUT</a:t>
            </a:r>
          </a:p>
        </p:txBody>
      </p:sp>
      <p:sp>
        <p:nvSpPr>
          <p:cNvPr id="8" name="evidence-question-1">
            <a:extLst xmlns:a="http://schemas.openxmlformats.org/drawingml/2006/main">
              <a:ext uri="{FF2B5EF4-FFF2-40B4-BE49-F238E27FC236}">
                <a16:creationId xmlns:a16="http://schemas.microsoft.com/office/drawing/2014/main" id="{C21EEAEC-E396-4A08-94AF-AAF765F7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95625"/>
            <a:ext cx="29337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What information did
the command produce?</a:t>
            </a:r>
          </a:p>
        </p:txBody>
      </p:sp>
      <p:sp>
        <p:nvSpPr>
          <p:cNvPr id="9" name="evidence-code-bg-1">
            <a:extLst xmlns:a="http://schemas.openxmlformats.org/drawingml/2006/main">
              <a:ext uri="{FF2B5EF4-FFF2-40B4-BE49-F238E27FC236}">
                <a16:creationId xmlns:a16="http://schemas.microsoft.com/office/drawing/2014/main" id="{E013D934-7CC5-4969-B49D-D0B04181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43375"/>
            <a:ext cx="29337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solidFill>
              <a:srgbClr val="17212B"/>
            </a:solidFill>
            <a:prstDash val="solid"/>
          </a:ln>
        </p:spPr>
      </p:sp>
      <p:sp>
        <p:nvSpPr>
          <p:cNvPr id="10" name="evidence-code-1">
            <a:extLst xmlns:a="http://schemas.openxmlformats.org/drawingml/2006/main">
              <a:ext uri="{FF2B5EF4-FFF2-40B4-BE49-F238E27FC236}">
                <a16:creationId xmlns:a16="http://schemas.microsoft.com/office/drawing/2014/main" id="{C442C201-A32D-422E-94E3-ED3140546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25908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pwd
/home/student</a:t>
            </a:r>
          </a:p>
        </p:txBody>
      </p:sp>
      <p:sp>
        <p:nvSpPr>
          <p:cNvPr id="11" name="evidence-panel-2">
            <a:extLst xmlns:a="http://schemas.openxmlformats.org/drawingml/2006/main">
              <a:ext uri="{FF2B5EF4-FFF2-40B4-BE49-F238E27FC236}">
                <a16:creationId xmlns:a16="http://schemas.microsoft.com/office/drawing/2014/main" id="{912F2156-F4B4-46A4-825E-9FD5391C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47875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solidFill>
              <a:srgbClr val="D0EDFA"/>
            </a:solidFill>
            <a:prstDash val="solid"/>
          </a:ln>
        </p:spPr>
      </p:sp>
      <p:sp>
        <p:nvSpPr>
          <p:cNvPr id="12" name="evidence-title-2">
            <a:extLst xmlns:a="http://schemas.openxmlformats.org/drawingml/2006/main">
              <a:ext uri="{FF2B5EF4-FFF2-40B4-BE49-F238E27FC236}">
                <a16:creationId xmlns:a16="http://schemas.microsoft.com/office/drawing/2014/main" id="{D990DB48-CFC0-44EE-936E-3711656F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333625"/>
            <a:ext cx="29337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STANDARD ERROR</a:t>
            </a:r>
          </a:p>
        </p:txBody>
      </p:sp>
      <p:sp>
        <p:nvSpPr>
          <p:cNvPr id="13" name="evidence-question-2">
            <a:extLst xmlns:a="http://schemas.openxmlformats.org/drawingml/2006/main">
              <a:ext uri="{FF2B5EF4-FFF2-40B4-BE49-F238E27FC236}">
                <a16:creationId xmlns:a16="http://schemas.microsoft.com/office/drawing/2014/main" id="{1371BCEA-1C91-472B-8212-05171180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95625"/>
            <a:ext cx="29337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What diagnostic did
the command report?</a:t>
            </a:r>
          </a:p>
        </p:txBody>
      </p:sp>
      <p:sp>
        <p:nvSpPr>
          <p:cNvPr id="14" name="evidence-code-bg-2">
            <a:extLst xmlns:a="http://schemas.openxmlformats.org/drawingml/2006/main">
              <a:ext uri="{FF2B5EF4-FFF2-40B4-BE49-F238E27FC236}">
                <a16:creationId xmlns:a16="http://schemas.microsoft.com/office/drawing/2014/main" id="{967219A0-3F46-4CBF-9BDC-58413F8E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43375"/>
            <a:ext cx="29337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solidFill>
              <a:srgbClr val="17212B"/>
            </a:solidFill>
            <a:prstDash val="solid"/>
          </a:ln>
        </p:spPr>
      </p:sp>
      <p:sp>
        <p:nvSpPr>
          <p:cNvPr id="15" name="evidence-code-2">
            <a:extLst xmlns:a="http://schemas.openxmlformats.org/drawingml/2006/main">
              <a:ext uri="{FF2B5EF4-FFF2-40B4-BE49-F238E27FC236}">
                <a16:creationId xmlns:a16="http://schemas.microsoft.com/office/drawing/2014/main" id="{3023073F-0272-4484-A32B-1E63619C2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62450"/>
            <a:ext cx="25908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ls /missing
No such file...</a:t>
            </a:r>
          </a:p>
        </p:txBody>
      </p:sp>
      <p:sp>
        <p:nvSpPr>
          <p:cNvPr id="16" name="evidence-panel-3">
            <a:extLst xmlns:a="http://schemas.openxmlformats.org/drawingml/2006/main">
              <a:ext uri="{FF2B5EF4-FFF2-40B4-BE49-F238E27FC236}">
                <a16:creationId xmlns:a16="http://schemas.microsoft.com/office/drawing/2014/main" id="{0170A2EC-3979-4799-BB10-72E54518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47875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evidence-title-3">
            <a:extLst xmlns:a="http://schemas.openxmlformats.org/drawingml/2006/main">
              <a:ext uri="{FF2B5EF4-FFF2-40B4-BE49-F238E27FC236}">
                <a16:creationId xmlns:a16="http://schemas.microsoft.com/office/drawing/2014/main" id="{79D1ABD4-289A-4613-8565-996AC47A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333625"/>
            <a:ext cx="29337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EXIT STATUS</a:t>
            </a:r>
          </a:p>
        </p:txBody>
      </p:sp>
      <p:sp>
        <p:nvSpPr>
          <p:cNvPr id="18" name="evidence-question-3">
            <a:extLst xmlns:a="http://schemas.openxmlformats.org/drawingml/2006/main">
              <a:ext uri="{FF2B5EF4-FFF2-40B4-BE49-F238E27FC236}">
                <a16:creationId xmlns:a16="http://schemas.microsoft.com/office/drawing/2014/main" id="{E8414609-1BD1-4E93-9A59-7705D3EF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095625"/>
            <a:ext cx="29337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Did the command
succeed or fail?</a:t>
            </a:r>
          </a:p>
        </p:txBody>
      </p:sp>
      <p:sp>
        <p:nvSpPr>
          <p:cNvPr id="19" name="evidence-code-bg-3">
            <a:extLst xmlns:a="http://schemas.openxmlformats.org/drawingml/2006/main">
              <a:ext uri="{FF2B5EF4-FFF2-40B4-BE49-F238E27FC236}">
                <a16:creationId xmlns:a16="http://schemas.microsoft.com/office/drawing/2014/main" id="{7E6AD74C-A695-4D82-BFF9-AE506325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143375"/>
            <a:ext cx="29337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solidFill>
              <a:srgbClr val="17212B"/>
            </a:solidFill>
            <a:prstDash val="solid"/>
          </a:ln>
        </p:spPr>
      </p:sp>
      <p:sp>
        <p:nvSpPr>
          <p:cNvPr id="20" name="evidence-code-3">
            <a:extLst xmlns:a="http://schemas.openxmlformats.org/drawingml/2006/main">
              <a:ext uri="{FF2B5EF4-FFF2-40B4-BE49-F238E27FC236}">
                <a16:creationId xmlns:a16="http://schemas.microsoft.com/office/drawing/2014/main" id="{EAA23B77-C754-4BB3-9A99-536F1A8A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62450"/>
            <a:ext cx="25908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echo $?
0 or nonzero</a:t>
            </a:r>
          </a:p>
        </p:txBody>
      </p:sp>
      <p:sp>
        <p:nvSpPr>
          <p:cNvPr id="21" name="status-warning">
            <a:extLst xmlns:a="http://schemas.openxmlformats.org/drawingml/2006/main">
              <a:ext uri="{FF2B5EF4-FFF2-40B4-BE49-F238E27FC236}">
                <a16:creationId xmlns:a16="http://schemas.microsoft.com/office/drawing/2014/main" id="{92420787-CEF1-419F-8443-7B51957E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762625"/>
            <a:ext cx="7429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64B4B"/>
                </a:solidFill>
                <a:latin typeface="Arial"/>
                <a:ea typeface="Arial"/>
                <a:cs typeface="Arial"/>
              </a:defRPr>
            </a:pPr>
            <a:r>
              <a:t>Check $? immediately - the next command replaces it.</a:t>
            </a:r>
          </a:p>
        </p:txBody>
      </p:sp>
    </p:spTree>
    <p:extLst>
      <p:ext uri="{BB962C8B-B14F-4D97-AF65-F5344CB8AC3E}">
        <p14:creationId xmlns:p14="http://schemas.microsoft.com/office/powerpoint/2010/main" val="4726151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9">
            <a:extLst xmlns:a="http://schemas.openxmlformats.org/drawingml/2006/main">
              <a:ext uri="{FF2B5EF4-FFF2-40B4-BE49-F238E27FC236}">
                <a16:creationId xmlns:a16="http://schemas.microsoft.com/office/drawing/2014/main" id="{2A69F51D-725C-4556-B633-B1E3431E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LESSON 2 | CONTROL FLOW PREVIEW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8540932F-11D4-4B33-8FDC-ACA68529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&amp;&amp; continues on success; || responds to failure</a:t>
            </a:r>
          </a:p>
        </p:txBody>
      </p:sp>
      <p:sp>
        <p:nvSpPr>
          <p:cNvPr id="3" name="header-rule-9">
            <a:extLst xmlns:a="http://schemas.openxmlformats.org/drawingml/2006/main">
              <a:ext uri="{FF2B5EF4-FFF2-40B4-BE49-F238E27FC236}">
                <a16:creationId xmlns:a16="http://schemas.microsoft.com/office/drawing/2014/main" id="{8EF39D69-1E33-4AD6-ABB9-2D1EDDF5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25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4" name="page-9">
            <a:extLst xmlns:a="http://schemas.openxmlformats.org/drawingml/2006/main">
              <a:ext uri="{FF2B5EF4-FFF2-40B4-BE49-F238E27FC236}">
                <a16:creationId xmlns:a16="http://schemas.microsoft.com/office/drawing/2014/main" id="{7C3E4A98-EB28-430B-8D7D-ACFDEA7EB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38875"/>
            <a:ext cx="495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09</a:t>
            </a:r>
          </a:p>
        </p:txBody>
      </p:sp>
      <p:sp>
        <p:nvSpPr>
          <p:cNvPr id="5" name="footer-9">
            <a:extLst xmlns:a="http://schemas.openxmlformats.org/drawingml/2006/main">
              <a:ext uri="{FF2B5EF4-FFF2-40B4-BE49-F238E27FC236}">
                <a16:creationId xmlns:a16="http://schemas.microsoft.com/office/drawing/2014/main" id="{B9206F7C-0924-4A16-9CED-881651A3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38875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and-panel">
            <a:extLst xmlns:a="http://schemas.openxmlformats.org/drawingml/2006/main">
              <a:ext uri="{FF2B5EF4-FFF2-40B4-BE49-F238E27FC236}">
                <a16:creationId xmlns:a16="http://schemas.microsoft.com/office/drawing/2014/main" id="{F95D802C-670A-4C3B-AF76-05C4B6D7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52625"/>
            <a:ext cx="5334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solidFill>
              <a:srgbClr val="D0EDFA"/>
            </a:solidFill>
            <a:prstDash val="solid"/>
          </a:ln>
        </p:spPr>
      </p:sp>
      <p:sp>
        <p:nvSpPr>
          <p:cNvPr id="7" name="or-panel">
            <a:extLst xmlns:a="http://schemas.openxmlformats.org/drawingml/2006/main">
              <a:ext uri="{FF2B5EF4-FFF2-40B4-BE49-F238E27FC236}">
                <a16:creationId xmlns:a16="http://schemas.microsoft.com/office/drawing/2014/main" id="{78D8D5FB-B597-465B-81FA-F4B20A80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52625"/>
            <a:ext cx="5334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8" name="and-label">
            <a:extLst xmlns:a="http://schemas.openxmlformats.org/drawingml/2006/main">
              <a:ext uri="{FF2B5EF4-FFF2-40B4-BE49-F238E27FC236}">
                <a16:creationId xmlns:a16="http://schemas.microsoft.com/office/drawing/2014/main" id="{BC3531E2-6D89-49C4-AC15-95E85674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2571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8A63"/>
                </a:solidFill>
                <a:latin typeface="Arial"/>
                <a:ea typeface="Arial"/>
                <a:cs typeface="Arial"/>
              </a:defRPr>
            </a:pPr>
            <a:r>
              <a:t>SUCCESS PATH</a:t>
            </a:r>
          </a:p>
        </p:txBody>
      </p:sp>
      <p:sp>
        <p:nvSpPr>
          <p:cNvPr id="9" name="and-code">
            <a:extLst xmlns:a="http://schemas.openxmlformats.org/drawingml/2006/main">
              <a:ext uri="{FF2B5EF4-FFF2-40B4-BE49-F238E27FC236}">
                <a16:creationId xmlns:a16="http://schemas.microsoft.com/office/drawing/2014/main" id="{8B787CAA-1E24-40F1-816D-E5C0053C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t>command1 &amp;&amp; command2</a:t>
            </a:r>
          </a:p>
        </p:txBody>
      </p:sp>
      <p:sp>
        <p:nvSpPr>
          <p:cNvPr id="10" name="and-body">
            <a:extLst xmlns:a="http://schemas.openxmlformats.org/drawingml/2006/main">
              <a:ext uri="{FF2B5EF4-FFF2-40B4-BE49-F238E27FC236}">
                <a16:creationId xmlns:a16="http://schemas.microsoft.com/office/drawing/2014/main" id="{F83FA301-D39D-45FE-98A2-F9A36796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0"/>
            <a:ext cx="4286250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command1 returns 0
then command2 runs</a:t>
            </a:r>
          </a:p>
        </p:txBody>
      </p:sp>
      <p:sp>
        <p:nvSpPr>
          <p:cNvPr id="11" name="or-label">
            <a:extLst xmlns:a="http://schemas.openxmlformats.org/drawingml/2006/main">
              <a:ext uri="{FF2B5EF4-FFF2-40B4-BE49-F238E27FC236}">
                <a16:creationId xmlns:a16="http://schemas.microsoft.com/office/drawing/2014/main" id="{499FED21-8800-44B6-A7B2-AC1772FC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38375"/>
            <a:ext cx="2571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64B4B"/>
                </a:solidFill>
                <a:latin typeface="Arial"/>
                <a:ea typeface="Arial"/>
                <a:cs typeface="Arial"/>
              </a:defRPr>
            </a:pPr>
            <a:r>
              <a:t>FAILURE PATH</a:t>
            </a:r>
          </a:p>
        </p:txBody>
      </p:sp>
      <p:sp>
        <p:nvSpPr>
          <p:cNvPr id="12" name="or-code">
            <a:extLst xmlns:a="http://schemas.openxmlformats.org/drawingml/2006/main">
              <a:ext uri="{FF2B5EF4-FFF2-40B4-BE49-F238E27FC236}">
                <a16:creationId xmlns:a16="http://schemas.microsoft.com/office/drawing/2014/main" id="{CA93B9C6-0305-45D9-852F-AA221E3A2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09875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t>command1 || command2</a:t>
            </a:r>
          </a:p>
        </p:txBody>
      </p:sp>
      <p:sp>
        <p:nvSpPr>
          <p:cNvPr id="13" name="or-body">
            <a:extLst xmlns:a="http://schemas.openxmlformats.org/drawingml/2006/main">
              <a:ext uri="{FF2B5EF4-FFF2-40B4-BE49-F238E27FC236}">
                <a16:creationId xmlns:a16="http://schemas.microsoft.com/office/drawing/2014/main" id="{0CCA83AF-7922-40B0-A965-C43DEAE7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14750"/>
            <a:ext cx="4286250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command1 returns nonzero
then command2 runs</a:t>
            </a:r>
          </a:p>
        </p:txBody>
      </p:sp>
      <p:sp>
        <p:nvSpPr>
          <p:cNvPr id="14" name="andor-example-bg">
            <a:extLst xmlns:a="http://schemas.openxmlformats.org/drawingml/2006/main">
              <a:ext uri="{FF2B5EF4-FFF2-40B4-BE49-F238E27FC236}">
                <a16:creationId xmlns:a16="http://schemas.microsoft.com/office/drawing/2014/main" id="{E73EC4BD-8B3F-4F86-8CEC-66B7F618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2925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solidFill>
              <a:srgbClr val="17212B"/>
            </a:solidFill>
            <a:prstDash val="solid"/>
          </a:ln>
        </p:spPr>
      </p:sp>
      <p:sp>
        <p:nvSpPr>
          <p:cNvPr id="15" name="andor-example">
            <a:extLst xmlns:a="http://schemas.openxmlformats.org/drawingml/2006/main">
              <a:ext uri="{FF2B5EF4-FFF2-40B4-BE49-F238E27FC236}">
                <a16:creationId xmlns:a16="http://schemas.microsoft.com/office/drawing/2014/main" id="{11E37C21-19A5-4AAA-81A9-AD5FDAE0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591175"/>
            <a:ext cx="8096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pwd &amp;&amp; echo 'ready'     |     ls /missing || echo 'check failed'</a:t>
            </a:r>
          </a:p>
        </p:txBody>
      </p:sp>
    </p:spTree>
    <p:extLst>
      <p:ext uri="{BB962C8B-B14F-4D97-AF65-F5344CB8AC3E}">
        <p14:creationId xmlns:p14="http://schemas.microsoft.com/office/powerpoint/2010/main" val="20676579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0">
            <a:extLst xmlns:a="http://schemas.openxmlformats.org/drawingml/2006/main">
              <a:ext uri="{FF2B5EF4-FFF2-40B4-BE49-F238E27FC236}">
                <a16:creationId xmlns:a16="http://schemas.microsoft.com/office/drawing/2014/main" id="{D814AF9C-3E9B-430E-9C3A-BE6A989C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LESSON 2 | GUIDED DEMONSTRATION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1C91B384-7106-4E7D-94F4-1647B9F5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36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A useful report combines commands with clear labels</a:t>
            </a:r>
          </a:p>
        </p:txBody>
      </p:sp>
      <p:sp>
        <p:nvSpPr>
          <p:cNvPr id="3" name="header-rule-10">
            <a:extLst xmlns:a="http://schemas.openxmlformats.org/drawingml/2006/main">
              <a:ext uri="{FF2B5EF4-FFF2-40B4-BE49-F238E27FC236}">
                <a16:creationId xmlns:a16="http://schemas.microsoft.com/office/drawing/2014/main" id="{CBF59525-BD80-439B-92A3-81CD8F577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25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4" name="page-10">
            <a:extLst xmlns:a="http://schemas.openxmlformats.org/drawingml/2006/main">
              <a:ext uri="{FF2B5EF4-FFF2-40B4-BE49-F238E27FC236}">
                <a16:creationId xmlns:a16="http://schemas.microsoft.com/office/drawing/2014/main" id="{09978007-92E1-4FC2-A840-C61B3D55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38875"/>
            <a:ext cx="495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  <p:sp>
        <p:nvSpPr>
          <p:cNvPr id="5" name="footer-10">
            <a:extLst xmlns:a="http://schemas.openxmlformats.org/drawingml/2006/main">
              <a:ext uri="{FF2B5EF4-FFF2-40B4-BE49-F238E27FC236}">
                <a16:creationId xmlns:a16="http://schemas.microsoft.com/office/drawing/2014/main" id="{5B2C862A-0282-4BE6-943D-EF5F5760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38875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snapshot-code-bg">
            <a:extLst xmlns:a="http://schemas.openxmlformats.org/drawingml/2006/main">
              <a:ext uri="{FF2B5EF4-FFF2-40B4-BE49-F238E27FC236}">
                <a16:creationId xmlns:a16="http://schemas.microsoft.com/office/drawing/2014/main" id="{AD6443B7-967A-4DC8-AB14-0B3DDEBD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52625"/>
            <a:ext cx="64770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solidFill>
              <a:srgbClr val="17212B"/>
            </a:solidFill>
            <a:prstDash val="solid"/>
          </a:ln>
        </p:spPr>
      </p:sp>
      <p:sp>
        <p:nvSpPr>
          <p:cNvPr id="7" name="snapshot-code">
            <a:extLst xmlns:a="http://schemas.openxmlformats.org/drawingml/2006/main">
              <a:ext uri="{FF2B5EF4-FFF2-40B4-BE49-F238E27FC236}">
                <a16:creationId xmlns:a16="http://schemas.microsoft.com/office/drawing/2014/main" id="{20A89C88-1613-4CCF-B085-3A97C5FA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5953125" cy="3238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#!/usr/bin/env bash
printf '%s\n' 'Linux Environment Snapshot'
printf 'Date: %s\n' "$(date)"
printf 'User: %s\n' "$(whoami)"
printf 'Hostname: %s\n' "$(hostname)"
printf 'Kernel: %s\n' "$(uname -r)"
uptime
free -h
df -h /</a:t>
            </a:r>
          </a:p>
        </p:txBody>
      </p:sp>
      <p:sp>
        <p:nvSpPr>
          <p:cNvPr id="8" name="snapshot-section-label">
            <a:extLst xmlns:a="http://schemas.openxmlformats.org/drawingml/2006/main">
              <a:ext uri="{FF2B5EF4-FFF2-40B4-BE49-F238E27FC236}">
                <a16:creationId xmlns:a16="http://schemas.microsoft.com/office/drawing/2014/main" id="{58631A5E-F822-4A6A-91B6-827725D7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76450"/>
            <a:ext cx="3429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REPORT SECTIONS</a:t>
            </a:r>
          </a:p>
        </p:txBody>
      </p:sp>
      <p:sp>
        <p:nvSpPr>
          <p:cNvPr id="9" name="snapshot-num-1">
            <a:extLst xmlns:a="http://schemas.openxmlformats.org/drawingml/2006/main">
              <a:ext uri="{FF2B5EF4-FFF2-40B4-BE49-F238E27FC236}">
                <a16:creationId xmlns:a16="http://schemas.microsoft.com/office/drawing/2014/main" id="{623C89DF-2DC9-4B14-B808-803BD6840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14625"/>
            <a:ext cx="438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snapshot-section-1">
            <a:extLst xmlns:a="http://schemas.openxmlformats.org/drawingml/2006/main">
              <a:ext uri="{FF2B5EF4-FFF2-40B4-BE49-F238E27FC236}">
                <a16:creationId xmlns:a16="http://schemas.microsoft.com/office/drawing/2014/main" id="{FB4510FE-13E3-4B8A-BFFF-52EF1302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14625"/>
            <a:ext cx="3143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Identity</a:t>
            </a:r>
          </a:p>
        </p:txBody>
      </p:sp>
      <p:sp>
        <p:nvSpPr>
          <p:cNvPr id="11" name="snapshot-rule-1">
            <a:extLst xmlns:a="http://schemas.openxmlformats.org/drawingml/2006/main">
              <a:ext uri="{FF2B5EF4-FFF2-40B4-BE49-F238E27FC236}">
                <a16:creationId xmlns:a16="http://schemas.microsoft.com/office/drawing/2014/main" id="{E06436F2-7088-4F2B-AB72-551AFF69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6705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snapshot-num-2">
            <a:extLst xmlns:a="http://schemas.openxmlformats.org/drawingml/2006/main">
              <a:ext uri="{FF2B5EF4-FFF2-40B4-BE49-F238E27FC236}">
                <a16:creationId xmlns:a16="http://schemas.microsoft.com/office/drawing/2014/main" id="{36F68005-31B4-49E9-B07F-E5B3C980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286125"/>
            <a:ext cx="438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snapshot-section-2">
            <a:extLst xmlns:a="http://schemas.openxmlformats.org/drawingml/2006/main">
              <a:ext uri="{FF2B5EF4-FFF2-40B4-BE49-F238E27FC236}">
                <a16:creationId xmlns:a16="http://schemas.microsoft.com/office/drawing/2014/main" id="{F33591DA-BB59-4389-933E-6BDBAEE1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86125"/>
            <a:ext cx="3143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Operating system</a:t>
            </a:r>
          </a:p>
        </p:txBody>
      </p:sp>
      <p:sp>
        <p:nvSpPr>
          <p:cNvPr id="14" name="snapshot-rule-2">
            <a:extLst xmlns:a="http://schemas.openxmlformats.org/drawingml/2006/main">
              <a:ext uri="{FF2B5EF4-FFF2-40B4-BE49-F238E27FC236}">
                <a16:creationId xmlns:a16="http://schemas.microsoft.com/office/drawing/2014/main" id="{E750E528-55F5-4DE1-A65E-D8DC65D7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5" name="snapshot-num-3">
            <a:extLst xmlns:a="http://schemas.openxmlformats.org/drawingml/2006/main">
              <a:ext uri="{FF2B5EF4-FFF2-40B4-BE49-F238E27FC236}">
                <a16:creationId xmlns:a16="http://schemas.microsoft.com/office/drawing/2014/main" id="{E4752FE8-9F24-4D4E-BDC5-DAB740F4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57625"/>
            <a:ext cx="438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snapshot-section-3">
            <a:extLst xmlns:a="http://schemas.openxmlformats.org/drawingml/2006/main">
              <a:ext uri="{FF2B5EF4-FFF2-40B4-BE49-F238E27FC236}">
                <a16:creationId xmlns:a16="http://schemas.microsoft.com/office/drawing/2014/main" id="{E75403E3-7161-49C5-997A-5FEECEF2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57625"/>
            <a:ext cx="3143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Memory</a:t>
            </a:r>
          </a:p>
        </p:txBody>
      </p:sp>
      <p:sp>
        <p:nvSpPr>
          <p:cNvPr id="17" name="snapshot-rule-3">
            <a:extLst xmlns:a="http://schemas.openxmlformats.org/drawingml/2006/main">
              <a:ext uri="{FF2B5EF4-FFF2-40B4-BE49-F238E27FC236}">
                <a16:creationId xmlns:a16="http://schemas.microsoft.com/office/drawing/2014/main" id="{6B35351E-5E0F-43E3-894A-97A92C19A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1005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8" name="snapshot-num-4">
            <a:extLst xmlns:a="http://schemas.openxmlformats.org/drawingml/2006/main">
              <a:ext uri="{FF2B5EF4-FFF2-40B4-BE49-F238E27FC236}">
                <a16:creationId xmlns:a16="http://schemas.microsoft.com/office/drawing/2014/main" id="{0DFD7C95-1224-4A0F-86EE-0B91A8C9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429125"/>
            <a:ext cx="438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snapshot-section-4">
            <a:extLst xmlns:a="http://schemas.openxmlformats.org/drawingml/2006/main">
              <a:ext uri="{FF2B5EF4-FFF2-40B4-BE49-F238E27FC236}">
                <a16:creationId xmlns:a16="http://schemas.microsoft.com/office/drawing/2014/main" id="{0E0A47C9-306A-4B03-B3AA-9FB67CE4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429125"/>
            <a:ext cx="3143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Root filesystem</a:t>
            </a:r>
          </a:p>
        </p:txBody>
      </p:sp>
      <p:sp>
        <p:nvSpPr>
          <p:cNvPr id="20" name="snapshot-rule-4">
            <a:extLst xmlns:a="http://schemas.openxmlformats.org/drawingml/2006/main">
              <a:ext uri="{FF2B5EF4-FFF2-40B4-BE49-F238E27FC236}">
                <a16:creationId xmlns:a16="http://schemas.microsoft.com/office/drawing/2014/main" id="{D54599B5-55B7-4E04-A088-3D50446A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8155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snapshot-num-5">
            <a:extLst xmlns:a="http://schemas.openxmlformats.org/drawingml/2006/main">
              <a:ext uri="{FF2B5EF4-FFF2-40B4-BE49-F238E27FC236}">
                <a16:creationId xmlns:a16="http://schemas.microsoft.com/office/drawing/2014/main" id="{84DD665B-76AB-46F1-B24C-6937BB58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000625"/>
            <a:ext cx="438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22" name="snapshot-section-5">
            <a:extLst xmlns:a="http://schemas.openxmlformats.org/drawingml/2006/main">
              <a:ext uri="{FF2B5EF4-FFF2-40B4-BE49-F238E27FC236}">
                <a16:creationId xmlns:a16="http://schemas.microsoft.com/office/drawing/2014/main" id="{8F267F2E-8D24-4D70-A92D-96BA0D5F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00625"/>
            <a:ext cx="3143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Completion message</a:t>
            </a:r>
          </a:p>
        </p:txBody>
      </p:sp>
      <p:sp>
        <p:nvSpPr>
          <p:cNvPr id="23" name="snapshot-rule-5">
            <a:extLst xmlns:a="http://schemas.openxmlformats.org/drawingml/2006/main">
              <a:ext uri="{FF2B5EF4-FFF2-40B4-BE49-F238E27FC236}">
                <a16:creationId xmlns:a16="http://schemas.microsoft.com/office/drawing/2014/main" id="{B7BE9EFA-0262-4DC6-A1D4-0E082F54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35305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4" name="snapshot-safety">
            <a:extLst xmlns:a="http://schemas.openxmlformats.org/drawingml/2006/main">
              <a:ext uri="{FF2B5EF4-FFF2-40B4-BE49-F238E27FC236}">
                <a16:creationId xmlns:a16="http://schemas.microsoft.com/office/drawing/2014/main" id="{D106E49B-47E2-4C28-B0D1-6639D2B5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429250"/>
            <a:ext cx="3857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8A63"/>
                </a:solidFill>
                <a:latin typeface="Arial"/>
                <a:ea typeface="Arial"/>
                <a:cs typeface="Arial"/>
              </a:defRPr>
            </a:pPr>
            <a:r>
              <a:t>Read-only by design: no sudo, no configuration changes.</a:t>
            </a:r>
          </a:p>
        </p:txBody>
      </p:sp>
    </p:spTree>
    <p:extLst>
      <p:ext uri="{BB962C8B-B14F-4D97-AF65-F5344CB8AC3E}">
        <p14:creationId xmlns:p14="http://schemas.microsoft.com/office/powerpoint/2010/main" val="5101007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1">
            <a:extLst xmlns:a="http://schemas.openxmlformats.org/drawingml/2006/main">
              <a:ext uri="{FF2B5EF4-FFF2-40B4-BE49-F238E27FC236}">
                <a16:creationId xmlns:a16="http://schemas.microsoft.com/office/drawing/2014/main" id="{E308FB94-B97B-4CD0-A400-A842CB44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WEEK 1 | STUDENT PRACTICE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E54CFA0A-55B2-4730-B064-6F06DF21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Two labs turn understanding into evidence</a:t>
            </a:r>
          </a:p>
        </p:txBody>
      </p:sp>
      <p:sp>
        <p:nvSpPr>
          <p:cNvPr id="3" name="header-rule-11">
            <a:extLst xmlns:a="http://schemas.openxmlformats.org/drawingml/2006/main">
              <a:ext uri="{FF2B5EF4-FFF2-40B4-BE49-F238E27FC236}">
                <a16:creationId xmlns:a16="http://schemas.microsoft.com/office/drawing/2014/main" id="{DC39F79E-D1DF-4129-8421-E02A7901C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25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4" name="page-11">
            <a:extLst xmlns:a="http://schemas.openxmlformats.org/drawingml/2006/main">
              <a:ext uri="{FF2B5EF4-FFF2-40B4-BE49-F238E27FC236}">
                <a16:creationId xmlns:a16="http://schemas.microsoft.com/office/drawing/2014/main" id="{EAF54168-8F26-4EEF-B00B-B4ABDDF5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38875"/>
            <a:ext cx="495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11</a:t>
            </a:r>
          </a:p>
        </p:txBody>
      </p:sp>
      <p:sp>
        <p:nvSpPr>
          <p:cNvPr id="5" name="footer-11">
            <a:extLst xmlns:a="http://schemas.openxmlformats.org/drawingml/2006/main">
              <a:ext uri="{FF2B5EF4-FFF2-40B4-BE49-F238E27FC236}">
                <a16:creationId xmlns:a16="http://schemas.microsoft.com/office/drawing/2014/main" id="{62BE47A5-51B2-40B6-86C2-E2F093D52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38875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lab1-panel">
            <a:extLst xmlns:a="http://schemas.openxmlformats.org/drawingml/2006/main">
              <a:ext uri="{FF2B5EF4-FFF2-40B4-BE49-F238E27FC236}">
                <a16:creationId xmlns:a16="http://schemas.microsoft.com/office/drawing/2014/main" id="{8AB1B801-3AF3-4277-A13A-4C8043B75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0250"/>
            <a:ext cx="5334000" cy="3286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7" name="lab2-panel">
            <a:extLst xmlns:a="http://schemas.openxmlformats.org/drawingml/2006/main">
              <a:ext uri="{FF2B5EF4-FFF2-40B4-BE49-F238E27FC236}">
                <a16:creationId xmlns:a16="http://schemas.microsoft.com/office/drawing/2014/main" id="{D1FE4433-1890-4F19-BE6D-031919F7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00250"/>
            <a:ext cx="5334000" cy="3286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solidFill>
              <a:srgbClr val="D0EDFA"/>
            </a:solidFill>
            <a:prstDash val="solid"/>
          </a:ln>
        </p:spPr>
      </p:sp>
      <p:sp>
        <p:nvSpPr>
          <p:cNvPr id="8" name="lab1-label">
            <a:extLst xmlns:a="http://schemas.openxmlformats.org/drawingml/2006/main">
              <a:ext uri="{FF2B5EF4-FFF2-40B4-BE49-F238E27FC236}">
                <a16:creationId xmlns:a16="http://schemas.microsoft.com/office/drawing/2014/main" id="{2175BBE7-8AF3-4A10-84CC-6A43E6AB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LAB 1</a:t>
            </a:r>
          </a:p>
        </p:txBody>
      </p:sp>
      <p:sp>
        <p:nvSpPr>
          <p:cNvPr id="9" name="lab1-title">
            <a:extLst xmlns:a="http://schemas.openxmlformats.org/drawingml/2006/main">
              <a:ext uri="{FF2B5EF4-FFF2-40B4-BE49-F238E27FC236}">
                <a16:creationId xmlns:a16="http://schemas.microsoft.com/office/drawing/2014/main" id="{7DC4A901-7AD9-4691-801C-3B3DB6E0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4286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My First Script</a:t>
            </a:r>
          </a:p>
        </p:txBody>
      </p:sp>
      <p:sp>
        <p:nvSpPr>
          <p:cNvPr id="10" name="lab1-list">
            <a:extLst xmlns:a="http://schemas.openxmlformats.org/drawingml/2006/main">
              <a:ext uri="{FF2B5EF4-FFF2-40B4-BE49-F238E27FC236}">
                <a16:creationId xmlns:a16="http://schemas.microsoft.com/office/drawing/2014/main" id="{118C2AF8-169F-4E1D-B2D9-94D4F68B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419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Create identity output
Run through Bash
Run directly
Observe permission failure
Explain every line</a:t>
            </a:r>
          </a:p>
        </p:txBody>
      </p:sp>
      <p:sp>
        <p:nvSpPr>
          <p:cNvPr id="11" name="lab2-label">
            <a:extLst xmlns:a="http://schemas.openxmlformats.org/drawingml/2006/main">
              <a:ext uri="{FF2B5EF4-FFF2-40B4-BE49-F238E27FC236}">
                <a16:creationId xmlns:a16="http://schemas.microsoft.com/office/drawing/2014/main" id="{A94DB6B2-64C2-46CD-A6F7-3EF293B5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6695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LAB 2</a:t>
            </a:r>
          </a:p>
        </p:txBody>
      </p:sp>
      <p:sp>
        <p:nvSpPr>
          <p:cNvPr id="12" name="lab2-title">
            <a:extLst xmlns:a="http://schemas.openxmlformats.org/drawingml/2006/main">
              <a:ext uri="{FF2B5EF4-FFF2-40B4-BE49-F238E27FC236}">
                <a16:creationId xmlns:a16="http://schemas.microsoft.com/office/drawing/2014/main" id="{82DF3DB1-938C-4965-A87C-68F85D04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381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Environment Snapshot</a:t>
            </a:r>
          </a:p>
        </p:txBody>
      </p:sp>
      <p:sp>
        <p:nvSpPr>
          <p:cNvPr id="13" name="lab2-list">
            <a:extLst xmlns:a="http://schemas.openxmlformats.org/drawingml/2006/main">
              <a:ext uri="{FF2B5EF4-FFF2-40B4-BE49-F238E27FC236}">
                <a16:creationId xmlns:a16="http://schemas.microsoft.com/office/drawing/2014/main" id="{403E66A3-D2E3-4ADA-99D7-2D6E7E987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24250"/>
            <a:ext cx="4191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Check syntax
Report system information
Use readable sections
Test two execution methods
Record final exit status</a:t>
            </a:r>
          </a:p>
        </p:txBody>
      </p:sp>
      <p:sp>
        <p:nvSpPr>
          <p:cNvPr id="14" name="lab-proof-bg">
            <a:extLst xmlns:a="http://schemas.openxmlformats.org/drawingml/2006/main">
              <a:ext uri="{FF2B5EF4-FFF2-40B4-BE49-F238E27FC236}">
                <a16:creationId xmlns:a16="http://schemas.microsoft.com/office/drawing/2014/main" id="{0DF733BA-2AF6-44BA-ACD5-FB0E2298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24500"/>
            <a:ext cx="857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5" name="lab-proof">
            <a:extLst xmlns:a="http://schemas.openxmlformats.org/drawingml/2006/main">
              <a:ext uri="{FF2B5EF4-FFF2-40B4-BE49-F238E27FC236}">
                <a16:creationId xmlns:a16="http://schemas.microsoft.com/office/drawing/2014/main" id="{D887C452-8823-4D0F-B3E6-ABCEE6FB1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638800"/>
            <a:ext cx="8191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Required proof: script + commands + output + exit status + explanation</a:t>
            </a:r>
          </a:p>
        </p:txBody>
      </p:sp>
    </p:spTree>
    <p:extLst>
      <p:ext uri="{BB962C8B-B14F-4D97-AF65-F5344CB8AC3E}">
        <p14:creationId xmlns:p14="http://schemas.microsoft.com/office/powerpoint/2010/main" val="108154221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2">
            <a:extLst xmlns:a="http://schemas.openxmlformats.org/drawingml/2006/main">
              <a:ext uri="{FF2B5EF4-FFF2-40B4-BE49-F238E27FC236}">
                <a16:creationId xmlns:a16="http://schemas.microsoft.com/office/drawing/2014/main" id="{227ED9C2-4DDB-43F0-9A0A-F12DD078E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WEEK 1 | CHECKPOINT</a:t>
            </a:r>
          </a:p>
        </p:txBody>
      </p:sp>
      <p:sp>
        <p:nvSpPr>
          <p:cNvPr id="2" name="title-12">
            <a:extLst xmlns:a="http://schemas.openxmlformats.org/drawingml/2006/main">
              <a:ext uri="{FF2B5EF4-FFF2-40B4-BE49-F238E27FC236}">
                <a16:creationId xmlns:a16="http://schemas.microsoft.com/office/drawing/2014/main" id="{7279A2D4-F17B-4CE3-95F9-38F3E75D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1066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501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Milestone M1: create, execute, and explain independently</a:t>
            </a:r>
          </a:p>
        </p:txBody>
      </p:sp>
      <p:sp>
        <p:nvSpPr>
          <p:cNvPr id="3" name="header-rule-12">
            <a:extLst xmlns:a="http://schemas.openxmlformats.org/drawingml/2006/main">
              <a:ext uri="{FF2B5EF4-FFF2-40B4-BE49-F238E27FC236}">
                <a16:creationId xmlns:a16="http://schemas.microsoft.com/office/drawing/2014/main" id="{F4DBF4A3-1F0B-44D2-8C17-2E69E999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257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4" name="page-12">
            <a:extLst xmlns:a="http://schemas.openxmlformats.org/drawingml/2006/main">
              <a:ext uri="{FF2B5EF4-FFF2-40B4-BE49-F238E27FC236}">
                <a16:creationId xmlns:a16="http://schemas.microsoft.com/office/drawing/2014/main" id="{8AAFF38F-9167-4CA3-A2C1-B077EC56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38875"/>
            <a:ext cx="495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12</a:t>
            </a:r>
          </a:p>
        </p:txBody>
      </p:sp>
      <p:sp>
        <p:nvSpPr>
          <p:cNvPr id="5" name="footer-12">
            <a:extLst xmlns:a="http://schemas.openxmlformats.org/drawingml/2006/main">
              <a:ext uri="{FF2B5EF4-FFF2-40B4-BE49-F238E27FC236}">
                <a16:creationId xmlns:a16="http://schemas.microsoft.com/office/drawing/2014/main" id="{58E273CA-1FCD-40CF-8FBB-0946589A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38875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milestone-title">
            <a:extLst xmlns:a="http://schemas.openxmlformats.org/drawingml/2006/main">
              <a:ext uri="{FF2B5EF4-FFF2-40B4-BE49-F238E27FC236}">
                <a16:creationId xmlns:a16="http://schemas.microsoft.com/office/drawing/2014/main" id="{1B16BE1C-17F9-4329-BC54-DFB1160E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52625"/>
            <a:ext cx="4095750" cy="1666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SCRIPT
OPERATOR</a:t>
            </a:r>
          </a:p>
        </p:txBody>
      </p:sp>
      <p:sp>
        <p:nvSpPr>
          <p:cNvPr id="7" name="milestone-body">
            <a:extLst xmlns:a="http://schemas.openxmlformats.org/drawingml/2006/main">
              <a:ext uri="{FF2B5EF4-FFF2-40B4-BE49-F238E27FC236}">
                <a16:creationId xmlns:a16="http://schemas.microsoft.com/office/drawing/2014/main" id="{5BC7E257-8291-4E48-8159-791CE43D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0"/>
            <a:ext cx="44767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You are ready when you can build a script, run it two ways, check status, and explain every line.</a:t>
            </a:r>
          </a:p>
        </p:txBody>
      </p:sp>
      <p:sp>
        <p:nvSpPr>
          <p:cNvPr id="8" name="checkpoint-01">
            <a:extLst xmlns:a="http://schemas.openxmlformats.org/drawingml/2006/main">
              <a:ext uri="{FF2B5EF4-FFF2-40B4-BE49-F238E27FC236}">
                <a16:creationId xmlns:a16="http://schemas.microsoft.com/office/drawing/2014/main" id="{0C8A73AD-FB50-45A7-9322-C9A00141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00250"/>
            <a:ext cx="5715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checkpoint-num-01">
            <a:extLst xmlns:a="http://schemas.openxmlformats.org/drawingml/2006/main">
              <a:ext uri="{FF2B5EF4-FFF2-40B4-BE49-F238E27FC236}">
                <a16:creationId xmlns:a16="http://schemas.microsoft.com/office/drawing/2014/main" id="{B0D19891-E9CF-460F-BFF1-753739E98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28850"/>
            <a:ext cx="457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checkpoint-title-01">
            <a:extLst xmlns:a="http://schemas.openxmlformats.org/drawingml/2006/main">
              <a:ext uri="{FF2B5EF4-FFF2-40B4-BE49-F238E27FC236}">
                <a16:creationId xmlns:a16="http://schemas.microsoft.com/office/drawing/2014/main" id="{DFCEFA17-7B0D-4FD2-A166-2221E93E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62175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STRUCTURE</a:t>
            </a:r>
          </a:p>
        </p:txBody>
      </p:sp>
      <p:sp>
        <p:nvSpPr>
          <p:cNvPr id="11" name="checkpoint-body-01">
            <a:extLst xmlns:a="http://schemas.openxmlformats.org/drawingml/2006/main">
              <a:ext uri="{FF2B5EF4-FFF2-40B4-BE49-F238E27FC236}">
                <a16:creationId xmlns:a16="http://schemas.microsoft.com/office/drawing/2014/main" id="{3421AA71-2B40-43E1-A1EB-C438F6D1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76500"/>
            <a:ext cx="4191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Shebang + description + commands</a:t>
            </a:r>
          </a:p>
        </p:txBody>
      </p:sp>
      <p:sp>
        <p:nvSpPr>
          <p:cNvPr id="12" name="checkpoint-02">
            <a:extLst xmlns:a="http://schemas.openxmlformats.org/drawingml/2006/main">
              <a:ext uri="{FF2B5EF4-FFF2-40B4-BE49-F238E27FC236}">
                <a16:creationId xmlns:a16="http://schemas.microsoft.com/office/drawing/2014/main" id="{CAC41DB2-341C-41D8-B8DE-62CDE116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95625"/>
            <a:ext cx="5715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checkpoint-num-02">
            <a:extLst xmlns:a="http://schemas.openxmlformats.org/drawingml/2006/main">
              <a:ext uri="{FF2B5EF4-FFF2-40B4-BE49-F238E27FC236}">
                <a16:creationId xmlns:a16="http://schemas.microsoft.com/office/drawing/2014/main" id="{49C60BDA-395B-4F8D-AE74-0C0DEC07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24225"/>
            <a:ext cx="457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checkpoint-title-02">
            <a:extLst xmlns:a="http://schemas.openxmlformats.org/drawingml/2006/main">
              <a:ext uri="{FF2B5EF4-FFF2-40B4-BE49-F238E27FC236}">
                <a16:creationId xmlns:a16="http://schemas.microsoft.com/office/drawing/2014/main" id="{7AAC14B9-C1E1-4F37-9526-BD0345E7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5755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EXECUTION</a:t>
            </a:r>
          </a:p>
        </p:txBody>
      </p:sp>
      <p:sp>
        <p:nvSpPr>
          <p:cNvPr id="15" name="checkpoint-body-02">
            <a:extLst xmlns:a="http://schemas.openxmlformats.org/drawingml/2006/main">
              <a:ext uri="{FF2B5EF4-FFF2-40B4-BE49-F238E27FC236}">
                <a16:creationId xmlns:a16="http://schemas.microsoft.com/office/drawing/2014/main" id="{0E031E6F-0737-4D36-B551-5D5EBE08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71875"/>
            <a:ext cx="4191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bash file and ./file both work</a:t>
            </a:r>
          </a:p>
        </p:txBody>
      </p:sp>
      <p:sp>
        <p:nvSpPr>
          <p:cNvPr id="16" name="checkpoint-03">
            <a:extLst xmlns:a="http://schemas.openxmlformats.org/drawingml/2006/main">
              <a:ext uri="{FF2B5EF4-FFF2-40B4-BE49-F238E27FC236}">
                <a16:creationId xmlns:a16="http://schemas.microsoft.com/office/drawing/2014/main" id="{391C2D55-DB18-481B-B3E9-3427F7F7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191000"/>
            <a:ext cx="5715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solidFill>
              <a:srgbClr val="D0EDFA"/>
            </a:solidFill>
            <a:prstDash val="solid"/>
          </a:ln>
        </p:spPr>
      </p:sp>
      <p:sp>
        <p:nvSpPr>
          <p:cNvPr id="17" name="checkpoint-num-03">
            <a:extLst xmlns:a="http://schemas.openxmlformats.org/drawingml/2006/main">
              <a:ext uri="{FF2B5EF4-FFF2-40B4-BE49-F238E27FC236}">
                <a16:creationId xmlns:a16="http://schemas.microsoft.com/office/drawing/2014/main" id="{440FC51A-9B95-4E28-922D-70487DE6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419600"/>
            <a:ext cx="457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checkpoint-title-03">
            <a:extLst xmlns:a="http://schemas.openxmlformats.org/drawingml/2006/main">
              <a:ext uri="{FF2B5EF4-FFF2-40B4-BE49-F238E27FC236}">
                <a16:creationId xmlns:a16="http://schemas.microsoft.com/office/drawing/2014/main" id="{93B5C000-5C51-4A16-8DF2-BE78BA5E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52925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EVIDENCE</a:t>
            </a:r>
          </a:p>
        </p:txBody>
      </p:sp>
      <p:sp>
        <p:nvSpPr>
          <p:cNvPr id="19" name="checkpoint-body-03">
            <a:extLst xmlns:a="http://schemas.openxmlformats.org/drawingml/2006/main">
              <a:ext uri="{FF2B5EF4-FFF2-40B4-BE49-F238E27FC236}">
                <a16:creationId xmlns:a16="http://schemas.microsoft.com/office/drawing/2014/main" id="{79936B4E-F624-46B3-BF8D-DA03333D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67250"/>
            <a:ext cx="4191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Output + error + exit status</a:t>
            </a:r>
          </a:p>
        </p:txBody>
      </p:sp>
      <p:sp>
        <p:nvSpPr>
          <p:cNvPr id="20" name="checkpoint-rule">
            <a:extLst xmlns:a="http://schemas.openxmlformats.org/drawingml/2006/main">
              <a:ext uri="{FF2B5EF4-FFF2-40B4-BE49-F238E27FC236}">
                <a16:creationId xmlns:a16="http://schemas.microsoft.com/office/drawing/2014/main" id="{A528CBD3-4067-4F72-92B8-030BB8155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197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21" name="checkpoint-next">
            <a:extLst xmlns:a="http://schemas.openxmlformats.org/drawingml/2006/main">
              <a:ext uri="{FF2B5EF4-FFF2-40B4-BE49-F238E27FC236}">
                <a16:creationId xmlns:a16="http://schemas.microsoft.com/office/drawing/2014/main" id="{9042D912-1889-431D-9AC0-F4CA5E81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57875"/>
            <a:ext cx="9525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NEXT: Week 2 adds variables, quoting, user input, and positional arguments.</a:t>
            </a:r>
          </a:p>
        </p:txBody>
      </p:sp>
    </p:spTree>
    <p:extLst>
      <p:ext uri="{BB962C8B-B14F-4D97-AF65-F5344CB8AC3E}">
        <p14:creationId xmlns:p14="http://schemas.microsoft.com/office/powerpoint/2010/main" val="7299673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2026-07-13T06:39:51.9420000Z</dcterms:created>
  <dcterms:modified xsi:type="dcterms:W3CDTF">2026-07-13T06:39:51.9420000Z</dcterms:modified>
</coreProperties>
</file>